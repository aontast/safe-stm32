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it-IT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245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2ECD8E-B9BF-29A7-B5FB-0BD615B70EB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3503DD-1ED7-3AE1-9D69-8241A06DC324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672794-98FE-7D6D-764F-417194233A5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F1163-2577-1B4C-8E36-A548065B66F9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6FCCCB-4F6E-3B14-0913-8B084687AFF7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3B3966-EA1A-A01D-457D-1C66072C6BE6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BF59B2-7E9D-3CA5-73CC-1E50A4F5CF4B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2C1968-E97F-3856-1680-CE639B91049D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97B85E-2630-3B8A-DD11-C219D8348483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939F2-7EE3-911C-8D04-0DCF7AD9C8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a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990980" name="Tito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2026284196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/>
          </a:p>
        </p:txBody>
      </p:sp>
      <p:sp>
        <p:nvSpPr>
          <p:cNvPr id="1627135090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AD07B3-5EFE-4ABA-BBC3-E30F24BA4547}" type="datetimeFigureOut">
              <a:rPr lang="it-IT"/>
              <a:t>04/06/2026</a:t>
            </a:fld>
            <a:endParaRPr lang="it-IT"/>
          </a:p>
        </p:txBody>
      </p:sp>
      <p:sp>
        <p:nvSpPr>
          <p:cNvPr id="454452851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3189685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2A9FD32-767C-40C7-B4E8-FA7D81D8685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13236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285143548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130406546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AD07B3-5EFE-4ABA-BBC3-E30F24BA4547}" type="datetimeFigureOut">
              <a:rPr lang="it-IT"/>
              <a:t>04/06/2026</a:t>
            </a:fld>
            <a:endParaRPr lang="it-IT"/>
          </a:p>
        </p:txBody>
      </p:sp>
      <p:sp>
        <p:nvSpPr>
          <p:cNvPr id="2119573820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98748256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2A9FD32-767C-40C7-B4E8-FA7D81D8685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Intestazione se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047739" name="Tito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79957257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1229188971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AD07B3-5EFE-4ABA-BBC3-E30F24BA4547}" type="datetimeFigureOut">
              <a:rPr lang="it-IT"/>
              <a:t>04/06/2026</a:t>
            </a:fld>
            <a:endParaRPr lang="it-IT"/>
          </a:p>
        </p:txBody>
      </p:sp>
      <p:sp>
        <p:nvSpPr>
          <p:cNvPr id="189302196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33052273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2A9FD32-767C-40C7-B4E8-FA7D81D8685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ue contenu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89647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2027029339" name="Segnaposto contenut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2019453284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547130459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AD07B3-5EFE-4ABA-BBC3-E30F24BA4547}" type="datetimeFigureOut">
              <a:rPr lang="it-IT"/>
              <a:t>04/06/2026</a:t>
            </a:fld>
            <a:endParaRPr lang="it-IT"/>
          </a:p>
        </p:txBody>
      </p:sp>
      <p:sp>
        <p:nvSpPr>
          <p:cNvPr id="315437662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3516982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2A9FD32-767C-40C7-B4E8-FA7D81D8685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nfron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877804" name="Tito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001910850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1617512612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724662681" name="Segnaposto tes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1538979907" name="Segnaposto contenut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2093082751" name="Segnaposto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AD07B3-5EFE-4ABA-BBC3-E30F24BA4547}" type="datetimeFigureOut">
              <a:rPr lang="it-IT"/>
              <a:t>04/06/2026</a:t>
            </a:fld>
            <a:endParaRPr lang="it-IT"/>
          </a:p>
        </p:txBody>
      </p:sp>
      <p:sp>
        <p:nvSpPr>
          <p:cNvPr id="206746110" name="Segnaposto piè di pa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84457416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2A9FD32-767C-40C7-B4E8-FA7D81D8685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Solo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005223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785587536" name="Segnaposto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AD07B3-5EFE-4ABA-BBC3-E30F24BA4547}" type="datetimeFigureOut">
              <a:rPr lang="it-IT"/>
              <a:t>04/06/2026</a:t>
            </a:fld>
            <a:endParaRPr lang="it-IT"/>
          </a:p>
        </p:txBody>
      </p:sp>
      <p:sp>
        <p:nvSpPr>
          <p:cNvPr id="512169955" name="Segnaposto piè di pa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98154813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2A9FD32-767C-40C7-B4E8-FA7D81D8685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409922" name="Segnaposto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AD07B3-5EFE-4ABA-BBC3-E30F24BA4547}" type="datetimeFigureOut">
              <a:rPr lang="it-IT"/>
              <a:t>04/06/2026</a:t>
            </a:fld>
            <a:endParaRPr lang="it-IT"/>
          </a:p>
        </p:txBody>
      </p:sp>
      <p:sp>
        <p:nvSpPr>
          <p:cNvPr id="194525098" name="Segnaposto piè di pa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16402072" name="Segnaposto numero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2A9FD32-767C-40C7-B4E8-FA7D81D8685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uto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351156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582829981" name="Segnaposto contenut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960842898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273927401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AD07B3-5EFE-4ABA-BBC3-E30F24BA4547}" type="datetimeFigureOut">
              <a:rPr lang="it-IT"/>
              <a:t>04/06/2026</a:t>
            </a:fld>
            <a:endParaRPr lang="it-IT"/>
          </a:p>
        </p:txBody>
      </p:sp>
      <p:sp>
        <p:nvSpPr>
          <p:cNvPr id="891027371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60054404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2A9FD32-767C-40C7-B4E8-FA7D81D8685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magine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383518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930589628" name="Segnaposto immagine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it-IT"/>
          </a:p>
        </p:txBody>
      </p:sp>
      <p:sp>
        <p:nvSpPr>
          <p:cNvPr id="964627700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1393109105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AD07B3-5EFE-4ABA-BBC3-E30F24BA4547}" type="datetimeFigureOut">
              <a:rPr lang="it-IT"/>
              <a:t>04/06/2026</a:t>
            </a:fld>
            <a:endParaRPr lang="it-IT"/>
          </a:p>
        </p:txBody>
      </p:sp>
      <p:sp>
        <p:nvSpPr>
          <p:cNvPr id="1155710061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68110534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2A9FD32-767C-40C7-B4E8-FA7D81D8685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372865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889760398" name="Segnaposto testo verticale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696375938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AD07B3-5EFE-4ABA-BBC3-E30F24BA4547}" type="datetimeFigureOut">
              <a:rPr lang="it-IT"/>
              <a:t>04/06/2026</a:t>
            </a:fld>
            <a:endParaRPr lang="it-IT"/>
          </a:p>
        </p:txBody>
      </p:sp>
      <p:sp>
        <p:nvSpPr>
          <p:cNvPr id="616395510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66619952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2A9FD32-767C-40C7-B4E8-FA7D81D8685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554065" name="Titolo vertica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2007673184" name="Segnaposto testo verticale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68407784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AD07B3-5EFE-4ABA-BBC3-E30F24BA4547}" type="datetimeFigureOut">
              <a:rPr lang="it-IT"/>
              <a:t>04/06/2026</a:t>
            </a:fld>
            <a:endParaRPr lang="it-IT"/>
          </a:p>
        </p:txBody>
      </p:sp>
      <p:sp>
        <p:nvSpPr>
          <p:cNvPr id="1100708319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12508409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2A9FD32-767C-40C7-B4E8-FA7D81D8685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a titolo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020904" name="Titolo 1"/>
          <p:cNvSpPr>
            <a:spLocks noGrp="1"/>
          </p:cNvSpPr>
          <p:nvPr>
            <p:ph type="ctrTitle"/>
          </p:nvPr>
        </p:nvSpPr>
        <p:spPr bwMode="auto">
          <a:xfrm>
            <a:off x="1065491" y="1828800"/>
            <a:ext cx="8231744" cy="2895600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pPr rtl="0">
              <a:defRPr/>
            </a:pPr>
            <a:r>
              <a:rPr lang="it-IT"/>
              <a:t>Fare clic per modificare lo stile del titolo dello schema</a:t>
            </a:r>
          </a:p>
        </p:txBody>
      </p:sp>
      <p:sp>
        <p:nvSpPr>
          <p:cNvPr id="1651973770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065490" y="4800600"/>
            <a:ext cx="8231744" cy="12192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00">
                <a:solidFill>
                  <a:schemeClr val="accent1"/>
                </a:solidFill>
              </a:defRPr>
            </a:lvl1pPr>
            <a:lvl2pPr marL="457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>
              <a:defRPr/>
            </a:pPr>
            <a:r>
              <a:rPr lang="it-IT"/>
              <a:t>Fare clic per modificare lo stile del sottotitolo dello schema</a:t>
            </a:r>
          </a:p>
        </p:txBody>
      </p:sp>
    </p:spTree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378872" name="Titolo 1"/>
          <p:cNvSpPr>
            <a:spLocks noGrp="1"/>
          </p:cNvSpPr>
          <p:nvPr>
            <p:ph type="title"/>
          </p:nvPr>
        </p:nvSpPr>
        <p:spPr bwMode="auto"/>
        <p:txBody>
          <a:bodyPr rtlCol="0"/>
          <a:lstStyle/>
          <a:p>
            <a:pPr rtl="0">
              <a:defRPr/>
            </a:pPr>
            <a:r>
              <a:rPr lang="it-IT"/>
              <a:t>Fare clic per modificare lo stile del titolo dello schema</a:t>
            </a:r>
          </a:p>
        </p:txBody>
      </p:sp>
      <p:sp>
        <p:nvSpPr>
          <p:cNvPr id="1467840493" name="Segnaposto contenuto 2"/>
          <p:cNvSpPr>
            <a:spLocks noGrp="1"/>
          </p:cNvSpPr>
          <p:nvPr>
            <p:ph idx="1" hasCustomPrompt="1"/>
          </p:nvPr>
        </p:nvSpPr>
        <p:spPr bwMode="auto"/>
        <p:txBody>
          <a:bodyPr rtlCol="0"/>
          <a:lstStyle>
            <a:lvl5pPr algn="l" rtl="0">
              <a:defRPr/>
            </a:lvl5pPr>
            <a:lvl6pPr algn="l" rtl="0">
              <a:defRPr/>
            </a:lvl6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00826625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4492DBE-BBC3-4A28-A909-35593DADC5C7}" type="datetime1">
              <a:rPr lang="it-IT"/>
              <a:t>04/06/2026</a:t>
            </a:fld>
            <a:endParaRPr lang="it-IT"/>
          </a:p>
        </p:txBody>
      </p:sp>
      <p:sp>
        <p:nvSpPr>
          <p:cNvPr id="1660514454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/>
          <a:p>
            <a:pPr rtl="0">
              <a:defRPr/>
            </a:pPr>
            <a:endParaRPr lang="it-IT"/>
          </a:p>
        </p:txBody>
      </p:sp>
      <p:sp>
        <p:nvSpPr>
          <p:cNvPr id="774226189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/>
          <a:p>
            <a:pPr rtl="0">
              <a:defRPr/>
            </a:pPr>
            <a:fld id="{2A013F82-EE5E-44EE-A61D-E31C6657F26F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Intestazione sezione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601163" name="Titolo 1"/>
          <p:cNvSpPr>
            <a:spLocks noGrp="1"/>
          </p:cNvSpPr>
          <p:nvPr>
            <p:ph type="title"/>
          </p:nvPr>
        </p:nvSpPr>
        <p:spPr bwMode="auto">
          <a:xfrm>
            <a:off x="1059891" y="2514600"/>
            <a:ext cx="8694663" cy="2819400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4800" b="0" cap="none"/>
            </a:lvl1pPr>
          </a:lstStyle>
          <a:p>
            <a:pPr rtl="0">
              <a:defRPr/>
            </a:pPr>
            <a:r>
              <a:rPr lang="it-IT"/>
              <a:t>Fare clic per modificare lo stile del titolo dello schema</a:t>
            </a:r>
          </a:p>
        </p:txBody>
      </p:sp>
      <p:sp>
        <p:nvSpPr>
          <p:cNvPr id="1673558273" name="Segnaposto testo 2"/>
          <p:cNvSpPr>
            <a:spLocks noGrp="1"/>
          </p:cNvSpPr>
          <p:nvPr>
            <p:ph type="body" idx="1" hasCustomPrompt="1"/>
          </p:nvPr>
        </p:nvSpPr>
        <p:spPr bwMode="auto">
          <a:xfrm>
            <a:off x="1065491" y="5410201"/>
            <a:ext cx="8689596" cy="609601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0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74737828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BC4CE4E-6BDC-4433-87C5-0DA27E562036}" type="datetime1">
              <a:rPr lang="it-IT"/>
              <a:t>04/06/2026</a:t>
            </a:fld>
            <a:endParaRPr lang="it-IT"/>
          </a:p>
        </p:txBody>
      </p:sp>
      <p:sp>
        <p:nvSpPr>
          <p:cNvPr id="2087526045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/>
          <a:p>
            <a:pPr rtl="0">
              <a:defRPr/>
            </a:pPr>
            <a:endParaRPr lang="it-IT"/>
          </a:p>
        </p:txBody>
      </p:sp>
      <p:sp>
        <p:nvSpPr>
          <p:cNvPr id="738829455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/>
          <a:p>
            <a:pPr rtl="0">
              <a:defRPr/>
            </a:pPr>
            <a:fld id="{2A013F82-EE5E-44EE-A61D-E31C6657F26F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ue contenu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408108" name="Titolo 1"/>
          <p:cNvSpPr>
            <a:spLocks noGrp="1"/>
          </p:cNvSpPr>
          <p:nvPr>
            <p:ph type="title"/>
          </p:nvPr>
        </p:nvSpPr>
        <p:spPr bwMode="auto"/>
        <p:txBody>
          <a:bodyPr rtlCol="0"/>
          <a:lstStyle/>
          <a:p>
            <a:pPr rtl="0">
              <a:defRPr/>
            </a:pPr>
            <a:r>
              <a:rPr lang="it-IT"/>
              <a:t>Fare clic per modificare lo stile del titolo dello schema</a:t>
            </a:r>
          </a:p>
        </p:txBody>
      </p:sp>
      <p:sp>
        <p:nvSpPr>
          <p:cNvPr id="958358556" name="Segnaposto contenuto 2"/>
          <p:cNvSpPr>
            <a:spLocks noGrp="1"/>
          </p:cNvSpPr>
          <p:nvPr>
            <p:ph sz="half" idx="1" hasCustomPrompt="1"/>
          </p:nvPr>
        </p:nvSpPr>
        <p:spPr bwMode="auto">
          <a:xfrm>
            <a:off x="1505174" y="1905001"/>
            <a:ext cx="4420750" cy="4114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675261193" name="Segnaposto contenuto 3"/>
          <p:cNvSpPr>
            <a:spLocks noGrp="1"/>
          </p:cNvSpPr>
          <p:nvPr>
            <p:ph sz="half" idx="2" hasCustomPrompt="1"/>
          </p:nvPr>
        </p:nvSpPr>
        <p:spPr bwMode="auto">
          <a:xfrm>
            <a:off x="6230806" y="1905001"/>
            <a:ext cx="4420751" cy="4114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221414757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/>
          <a:p>
            <a:pPr>
              <a:defRPr/>
            </a:pPr>
            <a:r>
              <a:rPr lang="it-IT"/>
              <a:t>​</a:t>
            </a:r>
            <a:fld id="{39D2C5AA-0DA3-4C59-A655-F19CFD772404}" type="datetime1">
              <a:rPr lang="it-IT"/>
              <a:t>04/06/2026</a:t>
            </a:fld>
            <a:r>
              <a:rPr lang="it-IT"/>
              <a:t>​</a:t>
            </a:r>
            <a:endParaRPr/>
          </a:p>
        </p:txBody>
      </p:sp>
      <p:sp>
        <p:nvSpPr>
          <p:cNvPr id="1867865935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/>
          <a:p>
            <a:pPr rtl="0">
              <a:defRPr/>
            </a:pPr>
            <a:endParaRPr lang="it-IT"/>
          </a:p>
        </p:txBody>
      </p:sp>
      <p:sp>
        <p:nvSpPr>
          <p:cNvPr id="1361658619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/>
          <a:p>
            <a:pPr rtl="0">
              <a:defRPr/>
            </a:pPr>
            <a:fld id="{2A013F82-EE5E-44EE-A61D-E31C6657F26F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nfron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92942" name="Titolo 1"/>
          <p:cNvSpPr>
            <a:spLocks noGrp="1"/>
          </p:cNvSpPr>
          <p:nvPr>
            <p:ph type="title"/>
          </p:nvPr>
        </p:nvSpPr>
        <p:spPr bwMode="auto"/>
        <p:txBody>
          <a:bodyPr rtlCol="0"/>
          <a:lstStyle>
            <a:lvl1pPr algn="l" rtl="0">
              <a:defRPr/>
            </a:lvl1pPr>
          </a:lstStyle>
          <a:p>
            <a:pPr rtl="0">
              <a:defRPr/>
            </a:pPr>
            <a:r>
              <a:rPr lang="it-IT"/>
              <a:t>Fare clic per modificare lo stile del titolo dello schema</a:t>
            </a:r>
          </a:p>
        </p:txBody>
      </p:sp>
      <p:sp>
        <p:nvSpPr>
          <p:cNvPr id="1854002264" name="Segnaposto testo 2"/>
          <p:cNvSpPr>
            <a:spLocks noGrp="1"/>
          </p:cNvSpPr>
          <p:nvPr>
            <p:ph type="body" idx="1" hasCustomPrompt="1"/>
          </p:nvPr>
        </p:nvSpPr>
        <p:spPr bwMode="auto">
          <a:xfrm>
            <a:off x="1522808" y="1905000"/>
            <a:ext cx="4417702" cy="762000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900" b="0" cap="all" spc="20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286246875" name="Segnaposto contenuto 3"/>
          <p:cNvSpPr>
            <a:spLocks noGrp="1"/>
          </p:cNvSpPr>
          <p:nvPr>
            <p:ph sz="half" idx="2" hasCustomPrompt="1"/>
          </p:nvPr>
        </p:nvSpPr>
        <p:spPr bwMode="auto">
          <a:xfrm>
            <a:off x="1522808" y="2743201"/>
            <a:ext cx="4417702" cy="32766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2146138130" name="Segnaposto testo 4"/>
          <p:cNvSpPr>
            <a:spLocks noGrp="1"/>
          </p:cNvSpPr>
          <p:nvPr>
            <p:ph type="body" sz="quarter" idx="3" hasCustomPrompt="1"/>
          </p:nvPr>
        </p:nvSpPr>
        <p:spPr bwMode="auto">
          <a:xfrm>
            <a:off x="6251489" y="1905000"/>
            <a:ext cx="4417702" cy="762000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900" b="0" cap="all" spc="20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2124299100" name="Segnaposto contenuto 5"/>
          <p:cNvSpPr>
            <a:spLocks noGrp="1"/>
          </p:cNvSpPr>
          <p:nvPr>
            <p:ph sz="quarter" idx="4" hasCustomPrompt="1"/>
          </p:nvPr>
        </p:nvSpPr>
        <p:spPr bwMode="auto">
          <a:xfrm>
            <a:off x="6251489" y="2743201"/>
            <a:ext cx="4417702" cy="32766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906847701" name="Segnaposto data 6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/>
          <a:p>
            <a:pPr>
              <a:defRPr/>
            </a:pPr>
            <a:r>
              <a:rPr lang="it-IT"/>
              <a:t>​</a:t>
            </a:r>
            <a:fld id="{4477D747-ABC6-40AC-BC57-34748F6F8724}" type="datetime1">
              <a:rPr lang="it-IT"/>
              <a:t>04/06/2026</a:t>
            </a:fld>
            <a:r>
              <a:rPr lang="it-IT"/>
              <a:t>​</a:t>
            </a:r>
            <a:endParaRPr/>
          </a:p>
        </p:txBody>
      </p:sp>
      <p:sp>
        <p:nvSpPr>
          <p:cNvPr id="1052626248" name="Segnaposto piè di pagina 7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/>
          <a:p>
            <a:pPr rtl="0">
              <a:defRPr/>
            </a:pPr>
            <a:endParaRPr lang="it-IT"/>
          </a:p>
        </p:txBody>
      </p:sp>
      <p:sp>
        <p:nvSpPr>
          <p:cNvPr id="1093525419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/>
          <a:p>
            <a:pPr rtl="0">
              <a:defRPr/>
            </a:pPr>
            <a:fld id="{2A013F82-EE5E-44EE-A61D-E31C6657F26F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Solo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59591" name="Titolo 1"/>
          <p:cNvSpPr>
            <a:spLocks noGrp="1"/>
          </p:cNvSpPr>
          <p:nvPr>
            <p:ph type="title"/>
          </p:nvPr>
        </p:nvSpPr>
        <p:spPr bwMode="auto"/>
        <p:txBody>
          <a:bodyPr rtlCol="0"/>
          <a:lstStyle/>
          <a:p>
            <a:pPr rtl="0">
              <a:defRPr/>
            </a:pPr>
            <a:r>
              <a:rPr lang="it-IT"/>
              <a:t>Fare clic per modificare lo stile del titolo dello schema</a:t>
            </a:r>
          </a:p>
        </p:txBody>
      </p:sp>
      <p:sp>
        <p:nvSpPr>
          <p:cNvPr id="22775176" name="Segnaposto data 2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5BDDA3C6-2C05-43C6-8484-28141B203A86}" type="datetime1">
              <a:rPr lang="it-IT"/>
              <a:t>04/06/2026</a:t>
            </a:fld>
            <a:endParaRPr lang="it-IT"/>
          </a:p>
        </p:txBody>
      </p:sp>
      <p:sp>
        <p:nvSpPr>
          <p:cNvPr id="588828979" name="Segnaposto piè di pagina 3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/>
          <a:p>
            <a:pPr rtl="0">
              <a:defRPr/>
            </a:pPr>
            <a:endParaRPr lang="it-IT"/>
          </a:p>
        </p:txBody>
      </p:sp>
      <p:sp>
        <p:nvSpPr>
          <p:cNvPr id="856305087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/>
          <a:p>
            <a:pPr rtl="0">
              <a:defRPr/>
            </a:pPr>
            <a:fld id="{2A013F82-EE5E-44EE-A61D-E31C6657F26F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u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252801" name="Segnaposto data 1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D9ACCD4-0230-4FDA-A408-AA7014F12B43}" type="datetime1">
              <a:rPr lang="it-IT"/>
              <a:t>04/06/2026</a:t>
            </a:fld>
            <a:endParaRPr lang="it-IT"/>
          </a:p>
        </p:txBody>
      </p:sp>
      <p:sp>
        <p:nvSpPr>
          <p:cNvPr id="1353747267" name="Segnaposto piè di pagina 2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/>
          <a:p>
            <a:pPr rtl="0">
              <a:defRPr/>
            </a:pPr>
            <a:endParaRPr lang="it-IT"/>
          </a:p>
        </p:txBody>
      </p:sp>
      <p:sp>
        <p:nvSpPr>
          <p:cNvPr id="111551938" name="Segnaposto numero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/>
          <a:p>
            <a:pPr rtl="0">
              <a:defRPr/>
            </a:pPr>
            <a:fld id="{2A013F82-EE5E-44EE-A61D-E31C6657F26F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uto con didascalia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615943" name="Titolo 1"/>
          <p:cNvSpPr>
            <a:spLocks noGrp="1"/>
          </p:cNvSpPr>
          <p:nvPr>
            <p:ph type="title"/>
          </p:nvPr>
        </p:nvSpPr>
        <p:spPr bwMode="auto">
          <a:xfrm>
            <a:off x="1055879" y="1905000"/>
            <a:ext cx="3597544" cy="2667000"/>
          </a:xfrm>
        </p:spPr>
        <p:txBody>
          <a:bodyPr rtlCol="0" anchor="b">
            <a:noAutofit/>
          </a:bodyPr>
          <a:lstStyle>
            <a:lvl1pPr algn="l" rtl="0">
              <a:lnSpc>
                <a:spcPct val="9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pPr rtl="0">
              <a:defRPr/>
            </a:pPr>
            <a:r>
              <a:rPr lang="it-IT"/>
              <a:t>Fare clic per modificare lo stile del titolo dello schema</a:t>
            </a:r>
          </a:p>
        </p:txBody>
      </p:sp>
      <p:sp>
        <p:nvSpPr>
          <p:cNvPr id="1194097933" name="Segnaposto contenuto 2"/>
          <p:cNvSpPr>
            <a:spLocks noGrp="1"/>
          </p:cNvSpPr>
          <p:nvPr>
            <p:ph idx="1" hasCustomPrompt="1"/>
          </p:nvPr>
        </p:nvSpPr>
        <p:spPr bwMode="auto">
          <a:xfrm>
            <a:off x="4952704" y="685800"/>
            <a:ext cx="6402467" cy="53340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218062857" name="Segnaposto testo 3"/>
          <p:cNvSpPr>
            <a:spLocks noGrp="1"/>
          </p:cNvSpPr>
          <p:nvPr>
            <p:ph type="body" sz="half" idx="2" hasCustomPrompt="1"/>
          </p:nvPr>
        </p:nvSpPr>
        <p:spPr bwMode="auto">
          <a:xfrm>
            <a:off x="1065491" y="4648200"/>
            <a:ext cx="3582332" cy="13716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962458100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75BD336-A561-42D4-B53C-C768C8AFC1F4}" type="datetime1">
              <a:rPr lang="it-IT"/>
              <a:t>04/06/2026</a:t>
            </a:fld>
            <a:endParaRPr lang="it-IT"/>
          </a:p>
        </p:txBody>
      </p:sp>
      <p:sp>
        <p:nvSpPr>
          <p:cNvPr id="1475308240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/>
          <a:p>
            <a:pPr rtl="0">
              <a:defRPr/>
            </a:pPr>
            <a:endParaRPr lang="it-IT"/>
          </a:p>
        </p:txBody>
      </p:sp>
      <p:sp>
        <p:nvSpPr>
          <p:cNvPr id="1303063015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/>
          <a:p>
            <a:pPr rtl="0">
              <a:defRPr/>
            </a:pPr>
            <a:fld id="{2A013F82-EE5E-44EE-A61D-E31C6657F26F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magine con didascalia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880299" name="Segnaposto immagine 2"/>
          <p:cNvSpPr>
            <a:spLocks noGrp="1"/>
          </p:cNvSpPr>
          <p:nvPr>
            <p:ph type="pic" idx="1"/>
          </p:nvPr>
        </p:nvSpPr>
        <p:spPr bwMode="auto">
          <a:xfrm>
            <a:off x="4952704" y="685800"/>
            <a:ext cx="6402466" cy="5334000"/>
          </a:xfrm>
          <a:prstGeom prst="rect">
            <a:avLst/>
          </a:prstGeo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 rtlCol="0">
            <a:normAutofit/>
          </a:bodyPr>
          <a:lstStyle>
            <a:lvl1pPr marL="0" indent="0" algn="ctr" rtl="0">
              <a:buNone/>
              <a:defRPr sz="24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>
              <a:defRPr/>
            </a:pPr>
            <a:r>
              <a:rPr lang="it-IT"/>
              <a:t>Fare clic sull'icona per inserire un'immagine</a:t>
            </a:r>
          </a:p>
        </p:txBody>
      </p:sp>
      <p:sp>
        <p:nvSpPr>
          <p:cNvPr id="2015885346" name="Titolo 1"/>
          <p:cNvSpPr>
            <a:spLocks noGrp="1"/>
          </p:cNvSpPr>
          <p:nvPr>
            <p:ph type="title"/>
          </p:nvPr>
        </p:nvSpPr>
        <p:spPr bwMode="auto">
          <a:xfrm>
            <a:off x="1055879" y="1905000"/>
            <a:ext cx="3597544" cy="2667000"/>
          </a:xfrm>
        </p:spPr>
        <p:txBody>
          <a:bodyPr rtlCol="0" anchor="b">
            <a:normAutofit/>
          </a:bodyPr>
          <a:lstStyle>
            <a:lvl1pPr algn="l" rtl="0">
              <a:lnSpc>
                <a:spcPct val="90000"/>
              </a:lnSpc>
              <a:defRPr sz="3600" b="0" i="0">
                <a:solidFill>
                  <a:schemeClr val="tx1"/>
                </a:solidFill>
              </a:defRPr>
            </a:lvl1pPr>
          </a:lstStyle>
          <a:p>
            <a:pPr rtl="0">
              <a:defRPr/>
            </a:pPr>
            <a:r>
              <a:rPr lang="it-IT"/>
              <a:t>Fare clic per modificare lo stile del titolo dello schema</a:t>
            </a:r>
          </a:p>
        </p:txBody>
      </p:sp>
      <p:sp>
        <p:nvSpPr>
          <p:cNvPr id="933432679" name="Segnaposto testo 3"/>
          <p:cNvSpPr>
            <a:spLocks noGrp="1"/>
          </p:cNvSpPr>
          <p:nvPr>
            <p:ph type="body" sz="half" idx="2" hasCustomPrompt="1"/>
          </p:nvPr>
        </p:nvSpPr>
        <p:spPr bwMode="auto">
          <a:xfrm>
            <a:off x="1065491" y="4648200"/>
            <a:ext cx="3582332" cy="13716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853336617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3A98978-DDCB-4322-90DA-759B156EAB4D}" type="datetime1">
              <a:rPr lang="it-IT"/>
              <a:t>04/06/2026</a:t>
            </a:fld>
            <a:endParaRPr lang="it-IT"/>
          </a:p>
        </p:txBody>
      </p:sp>
      <p:sp>
        <p:nvSpPr>
          <p:cNvPr id="2127836659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/>
          <a:p>
            <a:pPr rtl="0">
              <a:defRPr/>
            </a:pPr>
            <a:endParaRPr lang="it-IT"/>
          </a:p>
        </p:txBody>
      </p:sp>
      <p:sp>
        <p:nvSpPr>
          <p:cNvPr id="549532580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/>
          <a:p>
            <a:pPr rtl="0">
              <a:defRPr/>
            </a:pPr>
            <a:fld id="{2A013F82-EE5E-44EE-A61D-E31C6657F26F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821690" name="Titolo 1"/>
          <p:cNvSpPr>
            <a:spLocks noGrp="1"/>
          </p:cNvSpPr>
          <p:nvPr>
            <p:ph type="title"/>
          </p:nvPr>
        </p:nvSpPr>
        <p:spPr bwMode="auto"/>
        <p:txBody>
          <a:bodyPr rtlCol="0"/>
          <a:lstStyle/>
          <a:p>
            <a:pPr rtl="0">
              <a:defRPr/>
            </a:pPr>
            <a:r>
              <a:rPr lang="it-IT"/>
              <a:t>Fare clic per modificare lo stile del titolo dello schema</a:t>
            </a:r>
          </a:p>
        </p:txBody>
      </p:sp>
      <p:sp>
        <p:nvSpPr>
          <p:cNvPr id="589842214" name="Segnaposto testo verticale 2"/>
          <p:cNvSpPr>
            <a:spLocks noGrp="1"/>
          </p:cNvSpPr>
          <p:nvPr>
            <p:ph type="body" orient="vert" idx="1" hasCustomPrompt="1"/>
          </p:nvPr>
        </p:nvSpPr>
        <p:spPr bwMode="auto"/>
        <p:txBody>
          <a:bodyPr vert="eaVert" rtlCol="0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858621377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7A157AA-52B0-4F49-B3D4-496D41D1B509}" type="datetime1">
              <a:rPr lang="it-IT"/>
              <a:t>04/06/2026</a:t>
            </a:fld>
            <a:endParaRPr lang="it-IT"/>
          </a:p>
        </p:txBody>
      </p:sp>
      <p:sp>
        <p:nvSpPr>
          <p:cNvPr id="1531117009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/>
          <a:p>
            <a:pPr rtl="0">
              <a:defRPr/>
            </a:pPr>
            <a:endParaRPr lang="it-IT"/>
          </a:p>
        </p:txBody>
      </p:sp>
      <p:sp>
        <p:nvSpPr>
          <p:cNvPr id="97860732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/>
          <a:p>
            <a:pPr rtl="0">
              <a:defRPr/>
            </a:pPr>
            <a:fld id="{2A013F82-EE5E-44EE-A61D-E31C6657F26F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448210" name="Titolo verticale 1"/>
          <p:cNvSpPr>
            <a:spLocks noGrp="1"/>
          </p:cNvSpPr>
          <p:nvPr>
            <p:ph type="title" orient="vert"/>
          </p:nvPr>
        </p:nvSpPr>
        <p:spPr bwMode="auto">
          <a:xfrm>
            <a:off x="9144794" y="381001"/>
            <a:ext cx="1524398" cy="5638800"/>
          </a:xfrm>
        </p:spPr>
        <p:txBody>
          <a:bodyPr vert="eaVert" rtlCol="0"/>
          <a:lstStyle/>
          <a:p>
            <a:pPr rtl="0">
              <a:defRPr/>
            </a:pPr>
            <a:r>
              <a:rPr lang="it-IT"/>
              <a:t>Fare clic per modificare lo stile del titolo dello schema</a:t>
            </a:r>
          </a:p>
        </p:txBody>
      </p:sp>
      <p:sp>
        <p:nvSpPr>
          <p:cNvPr id="1399383453" name="Segnaposto testo verticale 2"/>
          <p:cNvSpPr>
            <a:spLocks noGrp="1"/>
          </p:cNvSpPr>
          <p:nvPr>
            <p:ph type="body" orient="vert" idx="1" hasCustomPrompt="1"/>
          </p:nvPr>
        </p:nvSpPr>
        <p:spPr bwMode="auto">
          <a:xfrm>
            <a:off x="1522809" y="381001"/>
            <a:ext cx="7393324" cy="5638800"/>
          </a:xfrm>
        </p:spPr>
        <p:txBody>
          <a:bodyPr vert="eaVert" rtlCol="0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345717547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7CA2BFF-AAA8-41C8-A69D-80CC7249AD61}" type="datetime1">
              <a:rPr lang="it-IT"/>
              <a:t>04/06/2026</a:t>
            </a:fld>
            <a:endParaRPr lang="it-IT"/>
          </a:p>
        </p:txBody>
      </p:sp>
      <p:sp>
        <p:nvSpPr>
          <p:cNvPr id="149346129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/>
          <a:p>
            <a:pPr rtl="0">
              <a:defRPr/>
            </a:pPr>
            <a:endParaRPr lang="it-IT"/>
          </a:p>
        </p:txBody>
      </p:sp>
      <p:sp>
        <p:nvSpPr>
          <p:cNvPr id="1620907407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/>
          <a:p>
            <a:pPr rtl="0">
              <a:defRPr/>
            </a:pPr>
            <a:fld id="{2A013F82-EE5E-44EE-A61D-E31C6657F26F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a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817518" name="Titolo 1"/>
          <p:cNvSpPr>
            <a:spLocks noGrp="1"/>
          </p:cNvSpPr>
          <p:nvPr>
            <p:ph type="ctrTitle"/>
          </p:nvPr>
        </p:nvSpPr>
        <p:spPr bwMode="auto"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151382675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063" indent="0" algn="ctr">
              <a:buNone/>
              <a:defRPr sz="2000"/>
            </a:lvl2pPr>
            <a:lvl3pPr marL="914126" indent="0" algn="ctr">
              <a:buNone/>
              <a:defRPr sz="1800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/>
          </a:p>
        </p:txBody>
      </p:sp>
      <p:sp>
        <p:nvSpPr>
          <p:cNvPr id="13374946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4F951F-B13C-4ED9-9D68-CC5E13F8B38C}" type="datetimeFigureOut">
              <a:rPr lang="it-IT"/>
              <a:t>04/06/2026</a:t>
            </a:fld>
            <a:endParaRPr lang="it-IT"/>
          </a:p>
        </p:txBody>
      </p:sp>
      <p:sp>
        <p:nvSpPr>
          <p:cNvPr id="992366499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98428547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870C44-CD3A-4B52-9D55-5EEDEDB4A0F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812534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664873281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22891377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4F951F-B13C-4ED9-9D68-CC5E13F8B38C}" type="datetimeFigureOut">
              <a:rPr lang="it-IT"/>
              <a:t>04/06/2026</a:t>
            </a:fld>
            <a:endParaRPr lang="it-IT"/>
          </a:p>
        </p:txBody>
      </p:sp>
      <p:sp>
        <p:nvSpPr>
          <p:cNvPr id="1137804671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53346030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870C44-CD3A-4B52-9D55-5EEDEDB4A0F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Intestazione se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916506" name="Titolo 1"/>
          <p:cNvSpPr>
            <a:spLocks noGrp="1"/>
          </p:cNvSpPr>
          <p:nvPr>
            <p:ph type="title"/>
          </p:nvPr>
        </p:nvSpPr>
        <p:spPr bwMode="auto"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660692599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1754545089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4F951F-B13C-4ED9-9D68-CC5E13F8B38C}" type="datetimeFigureOut">
              <a:rPr lang="it-IT"/>
              <a:t>04/06/2026</a:t>
            </a:fld>
            <a:endParaRPr lang="it-IT"/>
          </a:p>
        </p:txBody>
      </p:sp>
      <p:sp>
        <p:nvSpPr>
          <p:cNvPr id="956048592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16779125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870C44-CD3A-4B52-9D55-5EEDEDB4A0F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ue contenu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60404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297446992" name="Segnaposto contenuto 2"/>
          <p:cNvSpPr>
            <a:spLocks noGrp="1"/>
          </p:cNvSpPr>
          <p:nvPr>
            <p:ph sz="half" idx="1"/>
          </p:nvPr>
        </p:nvSpPr>
        <p:spPr bwMode="auto">
          <a:xfrm>
            <a:off x="838201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887713726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719398453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4F951F-B13C-4ED9-9D68-CC5E13F8B38C}" type="datetimeFigureOut">
              <a:rPr lang="it-IT"/>
              <a:t>04/06/2026</a:t>
            </a:fld>
            <a:endParaRPr lang="it-IT"/>
          </a:p>
        </p:txBody>
      </p:sp>
      <p:sp>
        <p:nvSpPr>
          <p:cNvPr id="752689912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72372697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870C44-CD3A-4B52-9D55-5EEDEDB4A0F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nfron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200344" name="Titolo 1"/>
          <p:cNvSpPr>
            <a:spLocks noGrp="1"/>
          </p:cNvSpPr>
          <p:nvPr>
            <p:ph type="title"/>
          </p:nvPr>
        </p:nvSpPr>
        <p:spPr bwMode="auto">
          <a:xfrm>
            <a:off x="839788" y="365127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740084411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63" indent="0">
              <a:buNone/>
              <a:defRPr sz="2000" b="1"/>
            </a:lvl2pPr>
            <a:lvl3pPr marL="914126" indent="0">
              <a:buNone/>
              <a:defRPr sz="1800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1585611841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84955347" name="Segnaposto tes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63" indent="0">
              <a:buNone/>
              <a:defRPr sz="2000" b="1"/>
            </a:lvl2pPr>
            <a:lvl3pPr marL="914126" indent="0">
              <a:buNone/>
              <a:defRPr sz="1800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510242413" name="Segnaposto contenut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2076857800" name="Segnaposto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4F951F-B13C-4ED9-9D68-CC5E13F8B38C}" type="datetimeFigureOut">
              <a:rPr lang="it-IT"/>
              <a:t>04/06/2026</a:t>
            </a:fld>
            <a:endParaRPr lang="it-IT"/>
          </a:p>
        </p:txBody>
      </p:sp>
      <p:sp>
        <p:nvSpPr>
          <p:cNvPr id="528506629" name="Segnaposto piè di pa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60340437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870C44-CD3A-4B52-9D55-5EEDEDB4A0F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Solo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5075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575604279" name="Segnaposto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4F951F-B13C-4ED9-9D68-CC5E13F8B38C}" type="datetimeFigureOut">
              <a:rPr lang="it-IT"/>
              <a:t>04/06/2026</a:t>
            </a:fld>
            <a:endParaRPr lang="it-IT"/>
          </a:p>
        </p:txBody>
      </p:sp>
      <p:sp>
        <p:nvSpPr>
          <p:cNvPr id="1472660307" name="Segnaposto piè di pa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7294760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870C44-CD3A-4B52-9D55-5EEDEDB4A0F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736170" name="Segnaposto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4F951F-B13C-4ED9-9D68-CC5E13F8B38C}" type="datetimeFigureOut">
              <a:rPr lang="it-IT"/>
              <a:t>04/06/2026</a:t>
            </a:fld>
            <a:endParaRPr lang="it-IT"/>
          </a:p>
        </p:txBody>
      </p:sp>
      <p:sp>
        <p:nvSpPr>
          <p:cNvPr id="119259301" name="Segnaposto piè di pa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15847904" name="Segnaposto numero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870C44-CD3A-4B52-9D55-5EEDEDB4A0F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uto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733437" name="Titolo 1"/>
          <p:cNvSpPr>
            <a:spLocks noGrp="1"/>
          </p:cNvSpPr>
          <p:nvPr>
            <p:ph type="title"/>
          </p:nvPr>
        </p:nvSpPr>
        <p:spPr bwMode="auto"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747031131" name="Segnaposto contenuto 2"/>
          <p:cNvSpPr>
            <a:spLocks noGrp="1"/>
          </p:cNvSpPr>
          <p:nvPr>
            <p:ph idx="1"/>
          </p:nvPr>
        </p:nvSpPr>
        <p:spPr bwMode="auto"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223486626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1914023624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4F951F-B13C-4ED9-9D68-CC5E13F8B38C}" type="datetimeFigureOut">
              <a:rPr lang="it-IT"/>
              <a:t>04/06/2026</a:t>
            </a:fld>
            <a:endParaRPr lang="it-IT"/>
          </a:p>
        </p:txBody>
      </p:sp>
      <p:sp>
        <p:nvSpPr>
          <p:cNvPr id="1442664662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29958815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870C44-CD3A-4B52-9D55-5EEDEDB4A0F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magine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508064" name="Titolo 1"/>
          <p:cNvSpPr>
            <a:spLocks noGrp="1"/>
          </p:cNvSpPr>
          <p:nvPr>
            <p:ph type="title"/>
          </p:nvPr>
        </p:nvSpPr>
        <p:spPr bwMode="auto"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120688992" name="Segnaposto immagine 2"/>
          <p:cNvSpPr>
            <a:spLocks noGrp="1"/>
          </p:cNvSpPr>
          <p:nvPr>
            <p:ph type="pic" idx="1"/>
          </p:nvPr>
        </p:nvSpPr>
        <p:spPr bwMode="auto"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063" indent="0">
              <a:buNone/>
              <a:defRPr sz="2800"/>
            </a:lvl2pPr>
            <a:lvl3pPr marL="914126" indent="0">
              <a:buNone/>
              <a:defRPr sz="2400"/>
            </a:lvl3pPr>
            <a:lvl4pPr marL="1371189" indent="0">
              <a:buNone/>
              <a:defRPr sz="2000"/>
            </a:lvl4pPr>
            <a:lvl5pPr marL="1828251" indent="0">
              <a:buNone/>
              <a:defRPr sz="2000"/>
            </a:lvl5pPr>
            <a:lvl6pPr marL="2285314" indent="0">
              <a:buNone/>
              <a:defRPr sz="2000"/>
            </a:lvl6pPr>
            <a:lvl7pPr marL="2742377" indent="0">
              <a:buNone/>
              <a:defRPr sz="2000"/>
            </a:lvl7pPr>
            <a:lvl8pPr marL="3199440" indent="0">
              <a:buNone/>
              <a:defRPr sz="2000"/>
            </a:lvl8pPr>
            <a:lvl9pPr marL="3656503" indent="0">
              <a:buNone/>
              <a:defRPr sz="2000"/>
            </a:lvl9pPr>
          </a:lstStyle>
          <a:p>
            <a:pPr>
              <a:defRPr/>
            </a:pPr>
            <a:endParaRPr lang="it-IT"/>
          </a:p>
        </p:txBody>
      </p:sp>
      <p:sp>
        <p:nvSpPr>
          <p:cNvPr id="511063292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448935767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4F951F-B13C-4ED9-9D68-CC5E13F8B38C}" type="datetimeFigureOut">
              <a:rPr lang="it-IT"/>
              <a:t>04/06/2026</a:t>
            </a:fld>
            <a:endParaRPr lang="it-IT"/>
          </a:p>
        </p:txBody>
      </p:sp>
      <p:sp>
        <p:nvSpPr>
          <p:cNvPr id="2015095670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13647120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870C44-CD3A-4B52-9D55-5EEDEDB4A0F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390154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25180150" name="Segnaposto testo verticale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577527114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4F951F-B13C-4ED9-9D68-CC5E13F8B38C}" type="datetimeFigureOut">
              <a:rPr lang="it-IT"/>
              <a:t>04/06/2026</a:t>
            </a:fld>
            <a:endParaRPr lang="it-IT"/>
          </a:p>
        </p:txBody>
      </p:sp>
      <p:sp>
        <p:nvSpPr>
          <p:cNvPr id="2134527412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16898590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870C44-CD3A-4B52-9D55-5EEDEDB4A0F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73378" name="Titolo vertica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95368303" name="Segnaposto testo verticale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838010507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4F951F-B13C-4ED9-9D68-CC5E13F8B38C}" type="datetimeFigureOut">
              <a:rPr lang="it-IT"/>
              <a:t>04/06/2026</a:t>
            </a:fld>
            <a:endParaRPr lang="it-IT"/>
          </a:p>
        </p:txBody>
      </p:sp>
      <p:sp>
        <p:nvSpPr>
          <p:cNvPr id="3422850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59185626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870C44-CD3A-4B52-9D55-5EEDEDB4A0F9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339146" name="Segnaposto tito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566680463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802612838" name="Segnaposto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3AD07B3-5EFE-4ABA-BBC3-E30F24BA4547}" type="datetimeFigureOut">
              <a:rPr lang="it-IT"/>
              <a:t>04/06/2026</a:t>
            </a:fld>
            <a:endParaRPr lang="it-IT"/>
          </a:p>
        </p:txBody>
      </p:sp>
      <p:sp>
        <p:nvSpPr>
          <p:cNvPr id="395555686" name="Segnaposto piè di pa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984373448" name="Segnaposto numero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2A9FD32-767C-40C7-B4E8-FA7D81D86859}" type="slidenum">
              <a:rPr lang="it-IT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894560" name="Segnaposto titolo 1"/>
          <p:cNvSpPr>
            <a:spLocks noGrp="1"/>
          </p:cNvSpPr>
          <p:nvPr>
            <p:ph type="title"/>
          </p:nvPr>
        </p:nvSpPr>
        <p:spPr bwMode="auto">
          <a:xfrm>
            <a:off x="1522810" y="381000"/>
            <a:ext cx="9146383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defRPr/>
            </a:pPr>
            <a:r>
              <a:rPr lang="it-IT"/>
              <a:t>Fare clic per modificare lo stile del titolo</a:t>
            </a:r>
            <a:endParaRPr/>
          </a:p>
        </p:txBody>
      </p:sp>
      <p:sp>
        <p:nvSpPr>
          <p:cNvPr id="407604907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1522810" y="1904999"/>
            <a:ext cx="913677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825149908" name="Segnaposto data 3"/>
          <p:cNvSpPr>
            <a:spLocks noGrp="1"/>
          </p:cNvSpPr>
          <p:nvPr>
            <p:ph type="dt" sz="half" idx="2"/>
          </p:nvPr>
        </p:nvSpPr>
        <p:spPr bwMode="auto">
          <a:xfrm>
            <a:off x="8228565" y="6400800"/>
            <a:ext cx="1449767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8FDDE53-CDF8-4A6F-B68E-C9BDF459CFED}" type="datetime1">
              <a:rPr lang="it-IT"/>
              <a:t>04/06/2026</a:t>
            </a:fld>
            <a:endParaRPr lang="it-IT"/>
          </a:p>
        </p:txBody>
      </p:sp>
      <p:sp>
        <p:nvSpPr>
          <p:cNvPr id="850466470" name="Segnaposto piè di pagina 4"/>
          <p:cNvSpPr>
            <a:spLocks noGrp="1"/>
          </p:cNvSpPr>
          <p:nvPr>
            <p:ph type="ftr" sz="quarter" idx="3"/>
          </p:nvPr>
        </p:nvSpPr>
        <p:spPr bwMode="auto">
          <a:xfrm>
            <a:off x="1522810" y="6400800"/>
            <a:ext cx="6554906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>
              <a:defRPr/>
            </a:pPr>
            <a:endParaRPr lang="it-IT"/>
          </a:p>
        </p:txBody>
      </p:sp>
      <p:sp>
        <p:nvSpPr>
          <p:cNvPr id="1467859424" name="Segnaposto numero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9830772" y="6400800"/>
            <a:ext cx="83841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A013F82-EE5E-44EE-A61D-E31C6657F26F}" type="slidenum">
              <a:rPr lang="it-IT"/>
              <a:t>‹N›</a:t>
            </a:fld>
            <a:endParaRPr lang="it-IT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cover/>
  </p:transition>
  <p:txStyles>
    <p:titleStyle>
      <a:lvl1pPr algn="l" defTabSz="914400" rtl="0">
        <a:lnSpc>
          <a:spcPct val="90000"/>
        </a:lnSpc>
        <a:spcBef>
          <a:spcPts val="0"/>
        </a:spcBef>
        <a:buNone/>
        <a:defRPr sz="3600" spc="1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4" algn="l" defTabSz="914400" rtl="0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>
        <a:spcBef>
          <a:spcPts val="600"/>
        </a:spcBef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>
        <a:spcBef>
          <a:spcPts val="600"/>
        </a:spcBef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>
        <a:spcBef>
          <a:spcPts val="600"/>
        </a:spcBef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>
        <a:spcBef>
          <a:spcPts val="600"/>
        </a:spcBef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369301" name="Segnaposto titolo 1"/>
          <p:cNvSpPr>
            <a:spLocks noGrp="1"/>
          </p:cNvSpPr>
          <p:nvPr>
            <p:ph type="title"/>
          </p:nvPr>
        </p:nvSpPr>
        <p:spPr bwMode="auto"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754644837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2127335934" name="Segnaposto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44F951F-B13C-4ED9-9D68-CC5E13F8B38C}" type="datetimeFigureOut">
              <a:rPr lang="it-IT"/>
              <a:t>04/06/2026</a:t>
            </a:fld>
            <a:endParaRPr lang="it-IT"/>
          </a:p>
        </p:txBody>
      </p:sp>
      <p:sp>
        <p:nvSpPr>
          <p:cNvPr id="1942868378" name="Segnaposto piè di pagina 4"/>
          <p:cNvSpPr>
            <a:spLocks noGrp="1"/>
          </p:cNvSpPr>
          <p:nvPr>
            <p:ph type="ftr" sz="quarter" idx="3"/>
          </p:nvPr>
        </p:nvSpPr>
        <p:spPr bwMode="auto"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356599954" name="Segnaposto numero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C870C44-CD3A-4B52-9D55-5EEDEDB4A0F9}" type="slidenum">
              <a:rPr lang="it-IT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cover/>
  </p:transition>
  <p:txStyles>
    <p:titleStyle>
      <a:lvl1pPr algn="l" defTabSz="914126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126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cogs.com/eqnedit.php?latex=Angolo%20%3D%20/frac%7b/sum_%7bi%3D1%7d%5e%7b5%7d%20(Valore/_Sensore_i%20/times%20Angolo/_Sensore_i)%7d%7b/sum_%7bi%3D1%7d%5e%7b5%7d%20Valore/_Sensore_i%7d#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41504" name="Titolo 2"/>
          <p:cNvSpPr>
            <a:spLocks noGrp="1"/>
          </p:cNvSpPr>
          <p:nvPr>
            <p:ph type="ctrTitle"/>
          </p:nvPr>
        </p:nvSpPr>
        <p:spPr bwMode="auto">
          <a:xfrm>
            <a:off x="197025" y="1833552"/>
            <a:ext cx="11797950" cy="1564616"/>
          </a:xfrm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it-IT" b="1"/>
              <a:t>S.A.F.E. </a:t>
            </a:r>
            <a:br>
              <a:rPr lang="it-IT" b="1"/>
            </a:br>
            <a:r>
              <a:rPr lang="it-IT" sz="5400" b="1"/>
              <a:t>(Smart Automated Fire Extinguisher)</a:t>
            </a:r>
            <a:endParaRPr/>
          </a:p>
        </p:txBody>
      </p:sp>
      <p:sp>
        <p:nvSpPr>
          <p:cNvPr id="1930343299" name="CasellaDiTesto 1"/>
          <p:cNvSpPr txBox="1"/>
          <p:nvPr/>
        </p:nvSpPr>
        <p:spPr bwMode="auto">
          <a:xfrm>
            <a:off x="8256239" y="4166472"/>
            <a:ext cx="25882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2400">
                <a:solidFill>
                  <a:prstClr val="white"/>
                </a:solidFill>
                <a:latin typeface="Corbel"/>
              </a:rPr>
              <a:t>Alessandro Aversa</a:t>
            </a:r>
            <a:endParaRPr/>
          </a:p>
          <a:p>
            <a:pPr>
              <a:defRPr/>
            </a:pPr>
            <a:r>
              <a:rPr lang="it-IT" sz="2400">
                <a:solidFill>
                  <a:prstClr val="white"/>
                </a:solidFill>
                <a:latin typeface="Corbel"/>
              </a:rPr>
              <a:t>Marco Canonico</a:t>
            </a:r>
            <a:endParaRPr/>
          </a:p>
          <a:p>
            <a:pPr>
              <a:defRPr/>
            </a:pPr>
            <a:r>
              <a:rPr lang="it-IT" sz="2400">
                <a:solidFill>
                  <a:prstClr val="white"/>
                </a:solidFill>
                <a:latin typeface="Corbel"/>
              </a:rPr>
              <a:t>Luca Carraturo</a:t>
            </a:r>
          </a:p>
          <a:p>
            <a:pPr>
              <a:defRPr/>
            </a:pPr>
            <a:r>
              <a:rPr lang="it-IT" sz="2400">
                <a:solidFill>
                  <a:prstClr val="white"/>
                </a:solidFill>
                <a:latin typeface="Corbel"/>
              </a:rPr>
              <a:t>Alessandro Cioffi</a:t>
            </a:r>
            <a:endParaRPr/>
          </a:p>
          <a:p>
            <a:pPr>
              <a:defRPr/>
            </a:pPr>
            <a:r>
              <a:rPr lang="it-IT" sz="2400">
                <a:solidFill>
                  <a:prstClr val="white"/>
                </a:solidFill>
                <a:latin typeface="Corbel"/>
              </a:rPr>
              <a:t>Antonio Di Giorgio</a:t>
            </a:r>
            <a:endParaRPr/>
          </a:p>
          <a:p>
            <a:pPr>
              <a:defRPr/>
            </a:pPr>
            <a:endParaRPr lang="it-IT" sz="2400">
              <a:solidFill>
                <a:prstClr val="white"/>
              </a:solidFill>
              <a:latin typeface="Corbel"/>
            </a:endParaRPr>
          </a:p>
        </p:txBody>
      </p:sp>
      <p:pic>
        <p:nvPicPr>
          <p:cNvPr id="562312266" name="Immagin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99657" y="95752"/>
            <a:ext cx="5501123" cy="17850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349362" name="Titolo 1"/>
          <p:cNvSpPr>
            <a:spLocks noGrp="1"/>
          </p:cNvSpPr>
          <p:nvPr>
            <p:ph type="ctrTitle"/>
          </p:nvPr>
        </p:nvSpPr>
        <p:spPr bwMode="auto">
          <a:xfrm>
            <a:off x="401052" y="339994"/>
            <a:ext cx="5871411" cy="1251285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it-IT" sz="4000"/>
              <a:t>Emergenza Incendi: </a:t>
            </a:r>
            <a:br>
              <a:rPr lang="it-IT" sz="4000"/>
            </a:br>
            <a:r>
              <a:rPr lang="it-IT" sz="4000"/>
              <a:t>Una Sfida Real Time</a:t>
            </a:r>
            <a:endParaRPr sz="4000"/>
          </a:p>
        </p:txBody>
      </p:sp>
      <p:sp>
        <p:nvSpPr>
          <p:cNvPr id="1955733570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401053" y="1652338"/>
            <a:ext cx="6464968" cy="4804610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it-IT" b="1"/>
              <a:t>Il Problema</a:t>
            </a:r>
            <a:endParaRPr/>
          </a:p>
          <a:p>
            <a:pPr algn="l">
              <a:defRPr/>
            </a:pPr>
            <a:r>
              <a:rPr lang="it-IT"/>
              <a:t>Negli incendi domestici e industriali, il fattore tempo è l'elemento spartiacque tra un principio di incendio e un disastro.</a:t>
            </a:r>
            <a:endParaRPr/>
          </a:p>
          <a:p>
            <a:pPr algn="l">
              <a:defRPr/>
            </a:pPr>
            <a:r>
              <a:rPr lang="it-IT"/>
              <a:t>I sistemi di sicurezza tradizionali sono puramente </a:t>
            </a:r>
            <a:r>
              <a:rPr lang="it-IT" b="1"/>
              <a:t>passivi</a:t>
            </a:r>
            <a:r>
              <a:rPr lang="it-IT"/>
              <a:t> (rilevano e segnalano tramite allarme acustico) o </a:t>
            </a:r>
            <a:r>
              <a:rPr lang="it-IT" b="1"/>
              <a:t>massivi</a:t>
            </a:r>
            <a:r>
              <a:rPr lang="it-IT"/>
              <a:t> (i sistemi sprinkler allagano intere aree senza una mira localizzata).</a:t>
            </a:r>
            <a:endParaRPr/>
          </a:p>
          <a:p>
            <a:pPr algn="l">
              <a:defRPr/>
            </a:pPr>
            <a:r>
              <a:rPr lang="it-IT" b="1"/>
              <a:t>La Soluzione S.A.F.E.</a:t>
            </a:r>
            <a:endParaRPr/>
          </a:p>
          <a:p>
            <a:pPr algn="l">
              <a:defRPr/>
            </a:pPr>
            <a:r>
              <a:rPr lang="it-IT"/>
              <a:t>Un sistema embedded reattivo che automatizza l’intera catena di sicurezza: </a:t>
            </a:r>
            <a:r>
              <a:rPr lang="it-IT" b="1"/>
              <a:t>rilevamento IR</a:t>
            </a:r>
            <a:r>
              <a:rPr lang="it-IT"/>
              <a:t>, </a:t>
            </a:r>
            <a:r>
              <a:rPr lang="it-IT" b="1"/>
              <a:t>puntamento robotizzato </a:t>
            </a:r>
            <a:r>
              <a:rPr lang="it-IT"/>
              <a:t>ed </a:t>
            </a:r>
            <a:r>
              <a:rPr lang="it-IT" b="1"/>
              <a:t>estinzione immediata</a:t>
            </a:r>
            <a:endParaRPr/>
          </a:p>
          <a:p>
            <a:pPr algn="l">
              <a:defRPr/>
            </a:pPr>
            <a:endParaRPr 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1457EEE-6CD3-469E-BFFA-71A02D3182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468" y="339994"/>
            <a:ext cx="4373479" cy="583130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190267" name="Titolo 1"/>
          <p:cNvSpPr>
            <a:spLocks noGrp="1"/>
          </p:cNvSpPr>
          <p:nvPr>
            <p:ph type="ctrTitle"/>
          </p:nvPr>
        </p:nvSpPr>
        <p:spPr bwMode="auto">
          <a:xfrm>
            <a:off x="198972" y="108429"/>
            <a:ext cx="9141619" cy="873051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 algn="l">
              <a:defRPr/>
            </a:pPr>
            <a:r>
              <a:rPr lang="it-IT" sz="4400"/>
              <a:t>L’Ecosistema Hardware</a:t>
            </a:r>
            <a:endParaRPr sz="4400"/>
          </a:p>
        </p:txBody>
      </p:sp>
      <p:pic>
        <p:nvPicPr>
          <p:cNvPr id="1506899630" name="Immagin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8972" y="5681646"/>
            <a:ext cx="873051" cy="873051"/>
          </a:xfrm>
          <a:prstGeom prst="rect">
            <a:avLst/>
          </a:prstGeom>
        </p:spPr>
      </p:pic>
      <p:pic>
        <p:nvPicPr>
          <p:cNvPr id="137934360" name="Immagine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95504" y="2271553"/>
            <a:ext cx="626850" cy="626850"/>
          </a:xfrm>
          <a:prstGeom prst="rect">
            <a:avLst/>
          </a:prstGeom>
        </p:spPr>
      </p:pic>
      <p:pic>
        <p:nvPicPr>
          <p:cNvPr id="1432225030" name="Immagine 8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1">
            <a:off x="345621" y="3140968"/>
            <a:ext cx="576064" cy="576064"/>
          </a:xfrm>
          <a:prstGeom prst="rect">
            <a:avLst/>
          </a:prstGeom>
        </p:spPr>
      </p:pic>
      <p:pic>
        <p:nvPicPr>
          <p:cNvPr id="530275377" name="Immagine 10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46291" y="5075867"/>
            <a:ext cx="576065" cy="576065"/>
          </a:xfrm>
          <a:prstGeom prst="rect">
            <a:avLst/>
          </a:prstGeom>
        </p:spPr>
      </p:pic>
      <p:pic>
        <p:nvPicPr>
          <p:cNvPr id="1738677013" name="Immagine 12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06409" y="1391759"/>
            <a:ext cx="576064" cy="576064"/>
          </a:xfrm>
          <a:prstGeom prst="rect">
            <a:avLst/>
          </a:prstGeom>
        </p:spPr>
      </p:pic>
      <p:sp>
        <p:nvSpPr>
          <p:cNvPr id="1516768717" name="CasellaDiTesto 13"/>
          <p:cNvSpPr txBox="1"/>
          <p:nvPr/>
        </p:nvSpPr>
        <p:spPr bwMode="auto">
          <a:xfrm>
            <a:off x="991506" y="1512715"/>
            <a:ext cx="478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b="1">
                <a:solidFill>
                  <a:prstClr val="black"/>
                </a:solidFill>
                <a:latin typeface="Calibri"/>
              </a:rPr>
              <a:t>STM32F303VCT6</a:t>
            </a:r>
            <a:r>
              <a:rPr lang="it-IT">
                <a:solidFill>
                  <a:prstClr val="black"/>
                </a:solidFill>
                <a:latin typeface="Calibri"/>
              </a:rPr>
              <a:t>: Core ARM Cortex-M4 @48Mhz</a:t>
            </a:r>
            <a:endParaRPr/>
          </a:p>
        </p:txBody>
      </p:sp>
      <p:sp>
        <p:nvSpPr>
          <p:cNvPr id="688042673" name="CasellaDiTesto 14"/>
          <p:cNvSpPr txBox="1"/>
          <p:nvPr/>
        </p:nvSpPr>
        <p:spPr bwMode="auto">
          <a:xfrm>
            <a:off x="991505" y="2413284"/>
            <a:ext cx="5306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b="1">
                <a:solidFill>
                  <a:prstClr val="black"/>
                </a:solidFill>
                <a:latin typeface="Calibri"/>
              </a:rPr>
              <a:t>Sensore Fiamma IR</a:t>
            </a:r>
            <a:r>
              <a:rPr lang="it-IT">
                <a:solidFill>
                  <a:prstClr val="black"/>
                </a:solidFill>
                <a:latin typeface="Calibri"/>
              </a:rPr>
              <a:t>: Modulo a 5 vie per copertura 120°</a:t>
            </a:r>
            <a:endParaRPr/>
          </a:p>
        </p:txBody>
      </p:sp>
      <p:sp>
        <p:nvSpPr>
          <p:cNvPr id="977721400" name="CasellaDiTesto 15"/>
          <p:cNvSpPr txBox="1"/>
          <p:nvPr/>
        </p:nvSpPr>
        <p:spPr bwMode="auto">
          <a:xfrm>
            <a:off x="1065903" y="3278771"/>
            <a:ext cx="5992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b="1">
                <a:solidFill>
                  <a:prstClr val="black"/>
                </a:solidFill>
                <a:latin typeface="Calibri"/>
              </a:rPr>
              <a:t>Servomotore SG90</a:t>
            </a:r>
            <a:r>
              <a:rPr lang="it-IT">
                <a:solidFill>
                  <a:prstClr val="black"/>
                </a:solidFill>
                <a:latin typeface="Calibri"/>
              </a:rPr>
              <a:t>: Puntamento torretta via PWM hardware</a:t>
            </a:r>
            <a:endParaRPr/>
          </a:p>
        </p:txBody>
      </p:sp>
      <p:sp>
        <p:nvSpPr>
          <p:cNvPr id="1344251937" name="CasellaDiTesto 16"/>
          <p:cNvSpPr txBox="1"/>
          <p:nvPr/>
        </p:nvSpPr>
        <p:spPr bwMode="auto">
          <a:xfrm>
            <a:off x="1027797" y="3880914"/>
            <a:ext cx="5570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b="1">
                <a:solidFill>
                  <a:prstClr val="black"/>
                </a:solidFill>
                <a:latin typeface="Calibri"/>
              </a:rPr>
              <a:t>Mini Pompa Sommersa a 5V</a:t>
            </a:r>
            <a:r>
              <a:rPr lang="it-IT">
                <a:solidFill>
                  <a:prstClr val="black"/>
                </a:solidFill>
                <a:latin typeface="Calibri"/>
              </a:rPr>
              <a:t>: Gestita tramite un Modulo Driver MOSFET/Relè per garantire l'isolamento galvanico tra il circuito di potenza della pompa e i pin logici sensibili dell'STM32.</a:t>
            </a:r>
            <a:endParaRPr/>
          </a:p>
        </p:txBody>
      </p:sp>
      <p:sp>
        <p:nvSpPr>
          <p:cNvPr id="1659673884" name="CasellaDiTesto 17"/>
          <p:cNvSpPr txBox="1"/>
          <p:nvPr/>
        </p:nvSpPr>
        <p:spPr bwMode="auto">
          <a:xfrm>
            <a:off x="1099138" y="5933504"/>
            <a:ext cx="5262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b="1">
                <a:solidFill>
                  <a:prstClr val="black"/>
                </a:solidFill>
                <a:latin typeface="Calibri"/>
              </a:rPr>
              <a:t>Buzzer &amp; LED: </a:t>
            </a:r>
            <a:r>
              <a:rPr lang="it-IT">
                <a:solidFill>
                  <a:prstClr val="black"/>
                </a:solidFill>
                <a:latin typeface="Calibri"/>
              </a:rPr>
              <a:t>Feedback acustico-visivo di emergenza</a:t>
            </a:r>
            <a:endParaRPr/>
          </a:p>
        </p:txBody>
      </p:sp>
      <p:pic>
        <p:nvPicPr>
          <p:cNvPr id="511802672" name="Immagine 19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1">
            <a:off x="373472" y="4095116"/>
            <a:ext cx="520363" cy="520363"/>
          </a:xfrm>
          <a:prstGeom prst="rect">
            <a:avLst/>
          </a:prstGeom>
        </p:spPr>
      </p:pic>
      <p:sp>
        <p:nvSpPr>
          <p:cNvPr id="984370559" name="CasellaDiTesto 20"/>
          <p:cNvSpPr txBox="1"/>
          <p:nvPr/>
        </p:nvSpPr>
        <p:spPr bwMode="auto">
          <a:xfrm>
            <a:off x="1099139" y="5179232"/>
            <a:ext cx="692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b="1">
                <a:solidFill>
                  <a:prstClr val="black"/>
                </a:solidFill>
                <a:latin typeface="Calibri"/>
              </a:rPr>
              <a:t>ESP-01 (ESP8266): </a:t>
            </a:r>
            <a:r>
              <a:rPr lang="it-IT">
                <a:solidFill>
                  <a:prstClr val="black"/>
                </a:solidFill>
                <a:latin typeface="Calibri"/>
              </a:rPr>
              <a:t>Monitoraggio IoT e logging remoto.</a:t>
            </a:r>
            <a:endParaRPr/>
          </a:p>
        </p:txBody>
      </p:sp>
      <p:pic>
        <p:nvPicPr>
          <p:cNvPr id="1416213067" name="Immagine 21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7171524" y="1720830"/>
            <a:ext cx="1638935" cy="1336141"/>
          </a:xfrm>
          <a:prstGeom prst="rect">
            <a:avLst/>
          </a:prstGeom>
        </p:spPr>
      </p:pic>
      <p:pic>
        <p:nvPicPr>
          <p:cNvPr id="386397354" name="Immagine 22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9214871" y="688765"/>
            <a:ext cx="1644826" cy="1223906"/>
          </a:xfrm>
          <a:prstGeom prst="rect">
            <a:avLst/>
          </a:prstGeom>
        </p:spPr>
      </p:pic>
      <p:pic>
        <p:nvPicPr>
          <p:cNvPr id="1747144441" name="Immagine 23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9330023" y="2728739"/>
            <a:ext cx="1107994" cy="1100065"/>
          </a:xfrm>
          <a:prstGeom prst="rect">
            <a:avLst/>
          </a:prstGeom>
        </p:spPr>
      </p:pic>
      <p:pic>
        <p:nvPicPr>
          <p:cNvPr id="931464200" name="Immagine 24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9160271" y="4067770"/>
            <a:ext cx="1447498" cy="838957"/>
          </a:xfrm>
          <a:prstGeom prst="rect">
            <a:avLst/>
          </a:prstGeom>
        </p:spPr>
      </p:pic>
      <p:pic>
        <p:nvPicPr>
          <p:cNvPr id="472144560" name="Immagine 25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7118231" y="3828803"/>
            <a:ext cx="1413001" cy="986122"/>
          </a:xfrm>
          <a:prstGeom prst="rect">
            <a:avLst/>
          </a:prstGeom>
        </p:spPr>
      </p:pic>
      <p:pic>
        <p:nvPicPr>
          <p:cNvPr id="186381946" name="Immagine 26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7248638" y="5003930"/>
            <a:ext cx="1561820" cy="108926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109199944" name="Tabella 3"/>
          <p:cNvGraphicFramePr>
            <a:graphicFrameLocks noGrp="1"/>
          </p:cNvGraphicFramePr>
          <p:nvPr/>
        </p:nvGraphicFramePr>
        <p:xfrm>
          <a:off x="135576" y="823139"/>
          <a:ext cx="8609132" cy="5973048"/>
        </p:xfrm>
        <a:graphic>
          <a:graphicData uri="http://schemas.openxmlformats.org/drawingml/2006/table">
            <a:tbl>
              <a:tblPr/>
              <a:tblGrid>
                <a:gridCol w="2152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2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520"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Componente Fisico</a:t>
                      </a:r>
                      <a:endParaRPr lang="it-IT" sz="170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Pin (STM32)</a:t>
                      </a:r>
                      <a:endParaRPr lang="it-IT" sz="170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Configurazione Hardware</a:t>
                      </a:r>
                      <a:endParaRPr lang="it-IT" sz="170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Funzione Logica</a:t>
                      </a:r>
                      <a:endParaRPr lang="it-IT" sz="170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281"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Sensore IR (5 vie)</a:t>
                      </a:r>
                      <a:endParaRPr lang="it-IT" sz="170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PA4, PA5, PA6, PA7, PC0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ADC2 + DMA</a:t>
                      </a: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 (Analog Watchdog)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Lettura analogica continua dei valori di fiamma.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281"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Servomotore SG90</a:t>
                      </a:r>
                      <a:endParaRPr lang="it-IT" sz="170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PA1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TIM2_CH2</a:t>
                      </a: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 (PWM Output)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Generazione onda quadra a 50Hz per la rotazione.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8281"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Relè Pompa (5V)</a:t>
                      </a:r>
                      <a:endParaRPr lang="it-IT" sz="170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PB0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GPIO_Output</a:t>
                      </a: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 (Push-Pull)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Attivazione isolata del circuito di potenza idrico.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281"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Buzzer Sirena</a:t>
                      </a:r>
                      <a:endParaRPr lang="it-IT" sz="170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PB4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TIM3_CH1</a:t>
                      </a: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 (PWM Output)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Generazione dell'allarme acustico a tono variabile.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281"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Modulo ESP-01</a:t>
                      </a:r>
                      <a:endParaRPr lang="it-IT" sz="170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PC12 (TX), PD2 (RX)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UART5</a:t>
                      </a: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 (115200 baud)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Trasmissione asincrona dei log di stato al web.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8281"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Tasto USER (Blu)</a:t>
                      </a:r>
                      <a:endParaRPr lang="it-IT" sz="1700">
                        <a:solidFill>
                          <a:srgbClr val="1F1F1F"/>
                        </a:solidFill>
                        <a:latin typeface="Google Sans Text"/>
                      </a:endParaRPr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PA0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 b="1">
                          <a:solidFill>
                            <a:srgbClr val="1F1F1F"/>
                          </a:solidFill>
                          <a:latin typeface="Google Sans Text"/>
                        </a:rPr>
                        <a:t>GPIO_Input</a:t>
                      </a: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 (EXTI0)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defRPr/>
                      </a:pPr>
                      <a:r>
                        <a:rPr lang="it-IT" sz="1700">
                          <a:solidFill>
                            <a:srgbClr val="1F1F1F"/>
                          </a:solidFill>
                          <a:latin typeface="Google Sans Text"/>
                        </a:rPr>
                        <a:t>Trigger per interrupt manuale e test di sistema.</a:t>
                      </a:r>
                      <a:endParaRPr/>
                    </a:p>
                  </a:txBody>
                  <a:tcPr marL="84798" marR="84798" marT="56532" marB="56532" anchor="ctr">
                    <a:lnL w="7620" algn="ctr">
                      <a:solidFill>
                        <a:srgbClr val="C4C7C5"/>
                      </a:solidFill>
                    </a:lnL>
                    <a:lnR w="7620" algn="ctr">
                      <a:solidFill>
                        <a:srgbClr val="C4C7C5"/>
                      </a:solidFill>
                    </a:lnR>
                    <a:lnT w="7620" algn="ctr">
                      <a:solidFill>
                        <a:srgbClr val="C4C7C5"/>
                      </a:solidFill>
                    </a:lnT>
                    <a:lnB w="7620" algn="ctr">
                      <a:solidFill>
                        <a:srgbClr val="C4C7C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0682732" name="CasellaDiTesto 4"/>
          <p:cNvSpPr txBox="1"/>
          <p:nvPr/>
        </p:nvSpPr>
        <p:spPr bwMode="auto">
          <a:xfrm>
            <a:off x="1588" y="65646"/>
            <a:ext cx="94511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4000">
                <a:solidFill>
                  <a:prstClr val="black"/>
                </a:solidFill>
                <a:latin typeface="Calibri"/>
              </a:rPr>
              <a:t>Architettura di Sistema (Pinout e Periferiche)</a:t>
            </a:r>
            <a:endParaRPr/>
          </a:p>
        </p:txBody>
      </p:sp>
      <p:pic>
        <p:nvPicPr>
          <p:cNvPr id="7752444" name="Immagine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866826" y="1382329"/>
            <a:ext cx="3346784" cy="4462378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528751686" name="Tabella 8"/>
          <p:cNvGraphicFramePr>
            <a:graphicFrameLocks noGrp="1"/>
          </p:cNvGraphicFramePr>
          <p:nvPr/>
        </p:nvGraphicFramePr>
        <p:xfrm>
          <a:off x="838199" y="548639"/>
          <a:ext cx="10515597" cy="5394960"/>
        </p:xfrm>
        <a:graphic>
          <a:graphicData uri="http://schemas.openxmlformats.org/drawingml/2006/table">
            <a:tbl>
              <a:tblPr/>
              <a:tblGrid>
                <a:gridCol w="3505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 b="1"/>
                        <a:t>Modulo</a:t>
                      </a:r>
                      <a:endParaRPr lang="it-IT" sz="2400"/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 b="1"/>
                        <a:t>Parametro</a:t>
                      </a:r>
                      <a:endParaRPr lang="it-IT" sz="2400"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 b="1"/>
                        <a:t>Motivazione</a:t>
                      </a:r>
                      <a:endParaRPr lang="it-IT" sz="2400"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TIM2 – Servo SG90</a:t>
                      </a:r>
                      <a:endParaRPr/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50 Hz (20 ms)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Standard RC; controllo stabile della posizione.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TIM3 – Buzzer</a:t>
                      </a:r>
                      <a:endParaRPr/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600–1500 Hz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Massima percezione acustica; effetto sirena.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TIM4 – Mod. Sirena</a:t>
                      </a:r>
                      <a:endParaRPr/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100 Hz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Sweep continuo e fluido del tono.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TIM6 – Scheduler</a:t>
                      </a:r>
                      <a:endParaRPr/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Dinamico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Sincronizza pompa e servo senza delay bloccanti.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ADC2 + DMA</a:t>
                      </a:r>
                      <a:endParaRPr/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Continuo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Monitoraggio real-time dei sensori.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UART5 – ESP-01</a:t>
                      </a:r>
                      <a:endParaRPr/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115.200 baud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2400"/>
                        <a:t>Comunicazione rapida e affidabile.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018164" name="Segnaposto contenuto 2"/>
          <p:cNvSpPr>
            <a:spLocks noGrp="1"/>
          </p:cNvSpPr>
          <p:nvPr>
            <p:ph idx="1"/>
          </p:nvPr>
        </p:nvSpPr>
        <p:spPr bwMode="auto">
          <a:xfrm>
            <a:off x="385010" y="445168"/>
            <a:ext cx="10892590" cy="596766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0000" lnSpcReduction="17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it-IT" sz="3600" b="1"/>
              <a:t>Configurazione dell'Unità di Calcolo (STM32CubeMX)</a:t>
            </a:r>
            <a:endParaRPr/>
          </a:p>
          <a:p>
            <a:pPr marL="285750" indent="-285750">
              <a:lnSpc>
                <a:spcPct val="114999"/>
              </a:lnSpc>
              <a:defRPr/>
            </a:pPr>
            <a:r>
              <a:rPr lang="it-IT" b="0" i="1" u="sng"/>
              <a:t>Clock di Sistema </a:t>
            </a:r>
            <a:r>
              <a:rPr lang="it-IT"/>
              <a:t>configurato a 48MHz tramite PLL, partendo dall’oscillatore esterno (HSE).</a:t>
            </a:r>
            <a:endParaRPr/>
          </a:p>
          <a:p>
            <a:pPr marL="285750" indent="-285750">
              <a:defRPr/>
            </a:pPr>
            <a:r>
              <a:rPr lang="it-IT"/>
              <a:t>L’</a:t>
            </a:r>
            <a:r>
              <a:rPr lang="it-IT" i="1" u="sng"/>
              <a:t>ADC2</a:t>
            </a:r>
            <a:r>
              <a:rPr lang="it-IT"/>
              <a:t> campiona i 5 canali del sensore in modo continuo. I dati vengono trasferiti direttamente in memoria tramite DMA senza l'intervento della CPU. Un Analog Watchdog (AWD) hardware monitora la SOGLIA_PERICOLO (impostata a 2000 nel registro) sollevando un interrupt solo in caso di emergenza.</a:t>
            </a:r>
            <a:endParaRPr/>
          </a:p>
          <a:p>
            <a:pPr marL="0" indent="0">
              <a:buNone/>
              <a:defRPr/>
            </a:pPr>
            <a:endParaRPr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it-IT" sz="3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Gestione delle Temporizzazioni tramite Timer Interni</a:t>
            </a:r>
            <a:endParaRPr lang="it-IT" sz="9000" b="1"/>
          </a:p>
          <a:p>
            <a:pPr marL="285750" indent="-285750">
              <a:defRPr/>
            </a:pPr>
            <a:r>
              <a:rPr lang="it-IT" i="1" u="sng"/>
              <a:t>TIM4 </a:t>
            </a:r>
            <a:r>
              <a:rPr lang="it-IT"/>
              <a:t>(Gestore Tono Allarme): Mentre TIM3 genera l'onda quadra PWM per il tono del buzzer, il TIM4 scatta ogni 10 ms per variare dinamicamente il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registro di periodo del timer</a:t>
            </a:r>
            <a:r>
              <a:rPr lang="it-IT"/>
              <a:t> (ARR) di TIM3,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incrementando o decrementando di un passo costante (20) </a:t>
            </a:r>
            <a:r>
              <a:rPr lang="it-IT"/>
              <a:t>creando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un'oscillazione fluida e continua del tono</a:t>
            </a:r>
            <a:r>
              <a:rPr lang="it-IT"/>
              <a:t> per ottenere l’effetto sirena. La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marcia del contatore viene invertita ogni volta che  si raggiungono i limiti preimpostati (800 e 1600)</a:t>
            </a:r>
            <a:r>
              <a:rPr lang="it-IT"/>
              <a:t>.</a:t>
            </a:r>
            <a:endParaRPr/>
          </a:p>
          <a:p>
            <a:pPr marL="285750" indent="-285750">
              <a:defRPr/>
            </a:pPr>
            <a:r>
              <a:rPr lang="it-IT" i="1" u="sng"/>
              <a:t>TIM6 </a:t>
            </a:r>
            <a:r>
              <a:rPr lang="it-IT"/>
              <a:t>(Schedulatore di Sistema): Timer di base a 16-bit utilizzato per attendere il tempo di movimento del servo verso la fiamma prima di effettuare lo spruzzo e per impostare la durata dello spruzzo della pompa (2000 ms) senza bloccare il codice e gestire la fine dell’erogazione.</a:t>
            </a:r>
          </a:p>
          <a:p>
            <a:pPr marL="285750" indent="-285750">
              <a:defRPr/>
            </a:pPr>
            <a:endParaRPr lang="it-IT"/>
          </a:p>
          <a:p>
            <a:pPr>
              <a:defRPr/>
            </a:pPr>
            <a:endParaRPr lang="it-IT"/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604608" name="Titolo 1"/>
          <p:cNvSpPr>
            <a:spLocks noGrp="1"/>
          </p:cNvSpPr>
          <p:nvPr>
            <p:ph type="title"/>
          </p:nvPr>
        </p:nvSpPr>
        <p:spPr bwMode="auto">
          <a:xfrm>
            <a:off x="314495" y="109903"/>
            <a:ext cx="10733942" cy="69231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4000" b="0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Logica Software Non-Bloccante e Real-Time</a:t>
            </a:r>
            <a:endParaRPr sz="4000" b="0" i="0" u="none" strike="noStrike" cap="none" spc="0">
              <a:solidFill>
                <a:schemeClr val="tx1"/>
              </a:solidFill>
              <a:latin typeface="Calibri Light"/>
              <a:cs typeface="Calibri Light"/>
            </a:endParaRPr>
          </a:p>
        </p:txBody>
      </p:sp>
      <p:sp>
        <p:nvSpPr>
          <p:cNvPr id="1628127880" name="Rettangolo 18"/>
          <p:cNvSpPr/>
          <p:nvPr/>
        </p:nvSpPr>
        <p:spPr bwMode="auto">
          <a:xfrm>
            <a:off x="580505" y="875484"/>
            <a:ext cx="112651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it-IT" b="1"/>
              <a:t>Architettura Real-Time ad Eventi : Zero Polling </a:t>
            </a:r>
            <a:endParaRPr/>
          </a:p>
          <a:p>
            <a:pPr>
              <a:defRPr/>
            </a:pPr>
            <a:r>
              <a:rPr lang="it-IT"/>
              <a:t>Il ciclo principale while(1) è completamente vuoto. A differenza di un sistema tradizionale che spreca cicli CPU a interrogare continuamente i sensori, S.A.F.E. delega ogni decisione agli interrupt hardware. La CPU rimane ferma in attesa, pronta a reagire in microsecondi a qualsiasi evento.</a:t>
            </a:r>
            <a:endParaRPr/>
          </a:p>
        </p:txBody>
      </p:sp>
      <p:graphicFrame>
        <p:nvGraphicFramePr>
          <p:cNvPr id="1277723786" name="Tabella 19"/>
          <p:cNvGraphicFramePr>
            <a:graphicFrameLocks noGrp="1"/>
          </p:cNvGraphicFramePr>
          <p:nvPr/>
        </p:nvGraphicFramePr>
        <p:xfrm>
          <a:off x="580505" y="2561490"/>
          <a:ext cx="11381508" cy="2286000"/>
        </p:xfrm>
        <a:graphic>
          <a:graphicData uri="http://schemas.openxmlformats.org/drawingml/2006/table">
            <a:tbl>
              <a:tblPr/>
              <a:tblGrid>
                <a:gridCol w="3793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3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3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/>
                        <a:t>Callback</a:t>
                      </a:r>
                      <a:endParaRPr/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/>
                        <a:t>Trigger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/>
                        <a:t>Azione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/>
                        <a:t>HAL_ADC_LevelOutOfWindowCallback</a:t>
                      </a:r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/>
                        <a:t>AWD hardware supera soglia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/>
                        <a:t>Prenota l'allarme, disabilita AWD per evitare rientri multipli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/>
                        <a:t>HAL_ADC_ConvCpltCallback</a:t>
                      </a:r>
                      <a:endParaRPr/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/>
                        <a:t>DMA completa scansione 5 sensori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/>
                        <a:t>Conferma allarme, avvia sirena, calcola puntamento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/>
                        <a:t>HAL_TIM_PeriodElapsedCallback</a:t>
                      </a:r>
                      <a:endParaRPr/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/>
                        <a:t>TIM4 (10ms) / TIM6 (tempo di volo)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/>
                        <a:t>TIM4: varia tono buzzer — TIM6: attiva pompa o verifica estinzione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0309059" name="Rectangle 12"/>
          <p:cNvSpPr>
            <a:spLocks noChangeArrowheads="1"/>
          </p:cNvSpPr>
          <p:nvPr/>
        </p:nvSpPr>
        <p:spPr bwMode="auto">
          <a:xfrm>
            <a:off x="580505" y="2177335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Le 3 Callback che governano il sistema</a:t>
            </a:r>
            <a:endParaRPr lang="it-IT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it-IT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40029486" name="Rettangolo 21"/>
          <p:cNvSpPr/>
          <p:nvPr/>
        </p:nvSpPr>
        <p:spPr bwMode="auto">
          <a:xfrm>
            <a:off x="314496" y="5137836"/>
            <a:ext cx="1138151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it-IT" u="sng"/>
              <a:t>Perché prima il DMA e poi l'azione?</a:t>
            </a:r>
            <a:endParaRPr/>
          </a:p>
          <a:p>
            <a:pPr>
              <a:defRPr/>
            </a:pPr>
            <a:r>
              <a:rPr lang="it-IT"/>
              <a:t>L'AWD potrebbe scattare mentre il DMA sta ancora aggiornando l'array dei sensori, restituendo dati parziali. La scelta di disabilitare l'AWD al primo trigger e aspettare il completamento del DMA (ConvCpltCallback) prima di agire è una decisione progettuale critica: garantisce che il calcolo della media pesata venga sempre eseguito su un vettore completo e coerente, eliminando il rischio di puntamenti errati.</a:t>
            </a:r>
            <a:endParaRPr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507816" name="Titolo 1"/>
          <p:cNvSpPr>
            <a:spLocks noGrp="1"/>
          </p:cNvSpPr>
          <p:nvPr>
            <p:ph type="title"/>
          </p:nvPr>
        </p:nvSpPr>
        <p:spPr bwMode="auto">
          <a:xfrm>
            <a:off x="263352" y="188641"/>
            <a:ext cx="6048672" cy="701574"/>
          </a:xfrm>
        </p:spPr>
        <p:txBody>
          <a:bodyPr/>
          <a:lstStyle/>
          <a:p>
            <a:pPr>
              <a:defRPr/>
            </a:pPr>
            <a:r>
              <a:rPr lang="it-IT" sz="4000"/>
              <a:t>Algoritmo di Puntamento</a:t>
            </a:r>
            <a:endParaRPr sz="4000"/>
          </a:p>
        </p:txBody>
      </p:sp>
      <p:sp>
        <p:nvSpPr>
          <p:cNvPr id="739086232" name="Segnaposto contenuto 2"/>
          <p:cNvSpPr>
            <a:spLocks noGrp="1"/>
          </p:cNvSpPr>
          <p:nvPr>
            <p:ph idx="1"/>
          </p:nvPr>
        </p:nvSpPr>
        <p:spPr bwMode="auto">
          <a:xfrm>
            <a:off x="191344" y="1177554"/>
            <a:ext cx="11809312" cy="225144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it-IT" sz="1800"/>
              <a:t>Quando l’Analog Watchdog segnala un'anomalia, il sistema interrompe il pattugliamento ed elabora i dati grezzi provenienti dai 5 canali IR (posizionati a 30°, 60°, 90°, 120°, 150°)</a:t>
            </a:r>
            <a:endParaRPr/>
          </a:p>
          <a:p>
            <a:pPr>
              <a:defRPr/>
            </a:pPr>
            <a:endParaRPr lang="it-IT" sz="1800"/>
          </a:p>
          <a:p>
            <a:pPr>
              <a:defRPr/>
            </a:pPr>
            <a:r>
              <a:rPr lang="it-IT" sz="1800"/>
              <a:t>Per garantire una precisione superiore al semplice step di 30° tra un sensore e l'altro, il codice implementa un algoritmo di interpolazione spaziale.L'angolo esatto del bersaglio viene calcolato pesando il valore analogico di ogni sensore rispetto alla sua posizione fisica:</a:t>
            </a:r>
            <a:endParaRPr/>
          </a:p>
          <a:p>
            <a:pPr>
              <a:defRPr/>
            </a:pPr>
            <a:endParaRPr lang="it-IT" sz="1800"/>
          </a:p>
          <a:p>
            <a:pPr>
              <a:defRPr/>
            </a:pPr>
            <a:endParaRPr lang="it-IT" sz="1800"/>
          </a:p>
          <a:p>
            <a:pPr>
              <a:defRPr/>
            </a:pPr>
            <a:endParaRPr lang="it-IT" sz="1800"/>
          </a:p>
        </p:txBody>
      </p:sp>
      <p:pic>
        <p:nvPicPr>
          <p:cNvPr id="13998306" name="Picture 3">
            <a:hlinkClick r:id="rId3"/>
          </p:cNvPr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1847528" y="3429000"/>
            <a:ext cx="7974212" cy="923330"/>
          </a:xfrm>
          <a:prstGeom prst="rect">
            <a:avLst/>
          </a:prstGeom>
          <a:noFill/>
        </p:spPr>
      </p:pic>
      <p:sp>
        <p:nvSpPr>
          <p:cNvPr id="1224518749" name="CasellaDiTesto 4"/>
          <p:cNvSpPr txBox="1"/>
          <p:nvPr/>
        </p:nvSpPr>
        <p:spPr bwMode="auto">
          <a:xfrm>
            <a:off x="191344" y="4581128"/>
            <a:ext cx="11737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>
                <a:solidFill>
                  <a:prstClr val="black"/>
                </a:solidFill>
                <a:latin typeface="Calibri"/>
              </a:rPr>
              <a:t>Conoscendo l'angolo di partenza e quello di destinazione, il software calcola i millisecondi esatti necessari al servo per completare la rotazione. Sfruttando la formula dinamica tempo_volo = (delta_gradi * 2) + 30, il TIM6 viene programmato per attivare la pompa dell'acqua solo ed esclusivamente quando la torretta è perfettamente allineata al fuoco.</a:t>
            </a:r>
            <a:endParaRPr/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495306" name="Titolo 1"/>
          <p:cNvSpPr>
            <a:spLocks noGrp="1"/>
          </p:cNvSpPr>
          <p:nvPr>
            <p:ph type="title"/>
          </p:nvPr>
        </p:nvSpPr>
        <p:spPr bwMode="auto">
          <a:xfrm>
            <a:off x="507331" y="211304"/>
            <a:ext cx="11177337" cy="1325563"/>
          </a:xfrm>
        </p:spPr>
        <p:txBody>
          <a:bodyPr/>
          <a:lstStyle/>
          <a:p>
            <a:pPr>
              <a:defRPr/>
            </a:pPr>
            <a:r>
              <a:rPr lang="it-IT" sz="4000"/>
              <a:t>Protocolli di Comunicazione e Infrastruttura IoT</a:t>
            </a:r>
            <a:endParaRPr sz="4000"/>
          </a:p>
        </p:txBody>
      </p:sp>
      <p:sp>
        <p:nvSpPr>
          <p:cNvPr id="597777820" name="Segnaposto contenuto 2"/>
          <p:cNvSpPr>
            <a:spLocks noGrp="1"/>
          </p:cNvSpPr>
          <p:nvPr>
            <p:ph idx="1"/>
          </p:nvPr>
        </p:nvSpPr>
        <p:spPr bwMode="auto">
          <a:xfrm>
            <a:off x="507331" y="1536867"/>
            <a:ext cx="7289131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it-IT" sz="3000" b="1" dirty="0"/>
              <a:t>Integrazione Modulo ESP8266 (ESP-01):</a:t>
            </a:r>
            <a:endParaRPr dirty="0"/>
          </a:p>
          <a:p>
            <a:pPr marL="0" indent="0">
              <a:buNone/>
              <a:defRPr/>
            </a:pPr>
            <a:r>
              <a:rPr lang="it-IT" dirty="0"/>
              <a:t>Il sistema prevede un'interfaccia di telemetria per il monitoraggio remoto dello stato e degli allarmi. </a:t>
            </a:r>
            <a:endParaRPr dirty="0"/>
          </a:p>
          <a:p>
            <a:pPr marL="0" indent="0">
              <a:buNone/>
              <a:defRPr/>
            </a:pPr>
            <a:r>
              <a:rPr lang="it-IT" dirty="0"/>
              <a:t>Collegamento seriale tramite la periferica </a:t>
            </a:r>
            <a:r>
              <a:rPr lang="it-IT" b="1" dirty="0"/>
              <a:t>UART5</a:t>
            </a:r>
            <a:r>
              <a:rPr lang="it-IT" dirty="0"/>
              <a:t> dell'STM32.</a:t>
            </a:r>
            <a:endParaRPr dirty="0"/>
          </a:p>
          <a:p>
            <a:pPr marL="0" indent="0">
              <a:buNone/>
              <a:defRPr/>
            </a:pPr>
            <a:r>
              <a:rPr lang="it-IT" dirty="0"/>
              <a:t>Comunicazione asincrona a </a:t>
            </a:r>
            <a:r>
              <a:rPr lang="it-IT" b="1" dirty="0"/>
              <a:t>115200 baud</a:t>
            </a:r>
            <a:r>
              <a:rPr lang="it-IT" dirty="0"/>
              <a:t>, 8 bit di dati, 1 stop bit, nessuna parità.</a:t>
            </a:r>
            <a:endParaRPr dirty="0"/>
          </a:p>
          <a:p>
            <a:pPr marL="0" indent="0">
              <a:buNone/>
              <a:defRPr/>
            </a:pPr>
            <a:r>
              <a:rPr lang="it-IT" dirty="0"/>
              <a:t>I messaggi viaggiano formattati con una sintassi testuale leggera e standardizzata, ottimizzata per il </a:t>
            </a:r>
            <a:r>
              <a:rPr lang="it-IT" dirty="0" err="1"/>
              <a:t>parsing</a:t>
            </a:r>
            <a:r>
              <a:rPr lang="it-IT" dirty="0"/>
              <a:t> rapido: TIPO:MESSAGGIO\n</a:t>
            </a:r>
            <a:endParaRPr dirty="0"/>
          </a:p>
          <a:p>
            <a:pPr marL="0" indent="0">
              <a:buNone/>
              <a:defRPr/>
            </a:pPr>
            <a:r>
              <a:rPr lang="it-IT" dirty="0"/>
              <a:t>Il modulo ESP riceve questi pacchetti e li espone su una </a:t>
            </a:r>
            <a:r>
              <a:rPr lang="it-IT" b="1" dirty="0"/>
              <a:t>pagina HTML / Dashboard Web</a:t>
            </a:r>
            <a:r>
              <a:rPr lang="it-IT" dirty="0"/>
              <a:t>, permettendo a un operatore umano di supervisionare il sistema S.A.F.E. a distanza.</a:t>
            </a:r>
            <a:endParaRPr dirty="0"/>
          </a:p>
          <a:p>
            <a:pPr>
              <a:defRPr/>
            </a:pPr>
            <a:endParaRPr lang="it-IT" dirty="0"/>
          </a:p>
        </p:txBody>
      </p:sp>
      <p:pic>
        <p:nvPicPr>
          <p:cNvPr id="509656314" name="Immagin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66785" y="2068334"/>
            <a:ext cx="3194773" cy="222814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034820" name="Titolo 1"/>
          <p:cNvSpPr>
            <a:spLocks noGrp="1"/>
          </p:cNvSpPr>
          <p:nvPr>
            <p:ph type="title"/>
          </p:nvPr>
        </p:nvSpPr>
        <p:spPr bwMode="auto">
          <a:xfrm>
            <a:off x="421106" y="221915"/>
            <a:ext cx="7182852" cy="918243"/>
          </a:xfrm>
        </p:spPr>
        <p:txBody>
          <a:bodyPr/>
          <a:lstStyle/>
          <a:p>
            <a:pPr>
              <a:defRPr/>
            </a:pPr>
            <a:r>
              <a:rPr lang="it-IT" sz="4000"/>
              <a:t>Diagramma di Funzionamento</a:t>
            </a:r>
            <a:endParaRPr sz="4000"/>
          </a:p>
        </p:txBody>
      </p:sp>
      <p:sp>
        <p:nvSpPr>
          <p:cNvPr id="1085196630" name="Segnaposto contenuto 2"/>
          <p:cNvSpPr>
            <a:spLocks noGrp="1"/>
          </p:cNvSpPr>
          <p:nvPr>
            <p:ph idx="1"/>
          </p:nvPr>
        </p:nvSpPr>
        <p:spPr bwMode="auto">
          <a:xfrm>
            <a:off x="244642" y="1140158"/>
            <a:ext cx="7535779" cy="5717841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it-IT" sz="1800"/>
              <a:t>Il ciclo di vita di S.A.F.E. è modellato su 4 stati operativi principali, interamente gestiti tramite interrupt.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r>
              <a:rPr lang="it-IT" sz="1800" i="1"/>
              <a:t>STATO_PATTUGLIAMENTO </a:t>
            </a:r>
            <a:r>
              <a:rPr lang="it-IT" sz="1800"/>
              <a:t>(Riposo):</a:t>
            </a:r>
            <a:endParaRPr/>
          </a:p>
          <a:p>
            <a:pPr marL="696912" lvl="1" indent="-457200">
              <a:defRPr/>
            </a:pPr>
            <a:r>
              <a:rPr lang="it-IT" sz="1800"/>
              <a:t>Il sistema è armato, il servo è in posizione centrale (90°).</a:t>
            </a:r>
            <a:endParaRPr/>
          </a:p>
          <a:p>
            <a:pPr marL="696912" lvl="1" indent="-457200">
              <a:defRPr/>
            </a:pPr>
            <a:r>
              <a:rPr lang="it-IT" sz="1800"/>
              <a:t>L'Analog Watchdog scruta i sensori in background.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r>
              <a:rPr lang="it-IT" sz="1800" i="1"/>
              <a:t>STATO_ALLARME </a:t>
            </a:r>
            <a:r>
              <a:rPr lang="it-IT" sz="1800"/>
              <a:t>(Trigger):</a:t>
            </a:r>
            <a:endParaRPr/>
          </a:p>
          <a:p>
            <a:pPr marL="696912" lvl="1" indent="-457200">
              <a:defRPr/>
            </a:pPr>
            <a:r>
              <a:rPr lang="it-IT" sz="1800"/>
              <a:t>Fiamma rilevata (superamento SOGLIA_PERICOLO).</a:t>
            </a:r>
            <a:endParaRPr/>
          </a:p>
          <a:p>
            <a:pPr marL="696912" lvl="1" indent="-457200">
              <a:defRPr/>
            </a:pPr>
            <a:r>
              <a:rPr lang="it-IT" sz="1800"/>
              <a:t>Avvio sirena (TIM4) e acquisizione array sensori completo (DMA).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r>
              <a:rPr lang="it-IT" sz="1800" i="1"/>
              <a:t>STATO_PUNTAMENTO </a:t>
            </a:r>
            <a:r>
              <a:rPr lang="it-IT" sz="1800"/>
              <a:t>(Azione):</a:t>
            </a:r>
            <a:endParaRPr/>
          </a:p>
          <a:p>
            <a:pPr marL="696912" lvl="1" indent="-457200">
              <a:defRPr/>
            </a:pPr>
            <a:r>
              <a:rPr lang="it-IT" sz="1800"/>
              <a:t>Calcolo angolo via media pesata.</a:t>
            </a:r>
            <a:endParaRPr/>
          </a:p>
          <a:p>
            <a:pPr marL="696912" lvl="1" indent="-457200">
              <a:defRPr/>
            </a:pPr>
            <a:r>
              <a:rPr lang="it-IT" sz="1800"/>
              <a:t>Avvio rotazione servo. In attesa del tempo di volo calcolato (TIM6).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r>
              <a:rPr lang="it-IT" sz="1800" i="1"/>
              <a:t>STATO_EROGAZIONE </a:t>
            </a:r>
            <a:r>
              <a:rPr lang="it-IT" sz="1800"/>
              <a:t>(Spegnimento e Verifica):</a:t>
            </a:r>
            <a:endParaRPr/>
          </a:p>
          <a:p>
            <a:pPr marL="696912" lvl="1" indent="-457200">
              <a:defRPr/>
            </a:pPr>
            <a:r>
              <a:rPr lang="it-IT" sz="1800"/>
              <a:t>Attivazione della pompa per 2 secondi esatti.</a:t>
            </a:r>
            <a:endParaRPr/>
          </a:p>
          <a:p>
            <a:pPr marL="696912" lvl="1" indent="-457200">
              <a:defRPr/>
            </a:pPr>
            <a:r>
              <a:rPr lang="it-IT" sz="1800"/>
              <a:t>Spegnimento pompa e verifica: la fiamma è ancora sopra la SOGLIA_FINE_INCENDIO?</a:t>
            </a:r>
            <a:endParaRPr/>
          </a:p>
          <a:p>
            <a:pPr marL="915986" lvl="2" indent="-457200">
              <a:defRPr/>
            </a:pPr>
            <a:r>
              <a:rPr lang="it-IT" sz="1800"/>
              <a:t>SÌ: Ricalcolo traiettoria (torna a PUNTAMENTO).</a:t>
            </a:r>
            <a:endParaRPr/>
          </a:p>
          <a:p>
            <a:pPr marL="915986" lvl="2" indent="-457200">
              <a:defRPr/>
            </a:pPr>
            <a:r>
              <a:rPr lang="it-IT" sz="1800"/>
              <a:t>NO: Allarme tacitato, ritorno a PATTUGLIAMENTO e ripristino dell'Analog Watchdog.</a:t>
            </a:r>
            <a:endParaRPr/>
          </a:p>
          <a:p>
            <a:pPr marL="0" indent="0">
              <a:buNone/>
              <a:defRPr/>
            </a:pPr>
            <a:endParaRPr lang="it-IT" sz="1800"/>
          </a:p>
          <a:p>
            <a:pPr>
              <a:defRPr/>
            </a:pPr>
            <a:endParaRPr lang="it-IT" sz="1800"/>
          </a:p>
        </p:txBody>
      </p:sp>
      <p:pic>
        <p:nvPicPr>
          <p:cNvPr id="1904888368" name="Immagin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59818" y="532064"/>
            <a:ext cx="4487539" cy="6325936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10D72680-549C-4592-92FB-1CA70E8B757D}"/>
              </a:ext>
            </a:extLst>
          </p:cNvPr>
          <p:cNvSpPr txBox="1">
            <a:spLocks/>
          </p:cNvSpPr>
          <p:nvPr/>
        </p:nvSpPr>
        <p:spPr bwMode="auto">
          <a:xfrm>
            <a:off x="3518175" y="0"/>
            <a:ext cx="4992777" cy="699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3600" spc="1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it-IT" dirty="0"/>
              <a:t>VIDEO DIMOSTRATIVO</a:t>
            </a:r>
          </a:p>
        </p:txBody>
      </p:sp>
      <p:pic>
        <p:nvPicPr>
          <p:cNvPr id="5" name="WhatsApp Video 2026-06-04 at 15.11.19">
            <a:hlinkClick r:id="" action="ppaction://media"/>
            <a:extLst>
              <a:ext uri="{FF2B5EF4-FFF2-40B4-BE49-F238E27FC236}">
                <a16:creationId xmlns:a16="http://schemas.microsoft.com/office/drawing/2014/main" id="{94F3F686-CD4B-4500-806B-B69116E11EC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 bwMode="auto">
          <a:xfrm>
            <a:off x="2588906" y="859335"/>
            <a:ext cx="6851317" cy="513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5432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unnel blu digitale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Arial"/>
        <a:cs typeface="Arial"/>
      </a:majorFont>
      <a:minorFont>
        <a:latin typeface="Corbe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1277</Words>
  <Application>Microsoft Office PowerPoint</Application>
  <PresentationFormat>Widescreen</PresentationFormat>
  <Paragraphs>134</Paragraphs>
  <Slides>11</Slides>
  <Notes>10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Corbel</vt:lpstr>
      <vt:lpstr>Google Sans Text</vt:lpstr>
      <vt:lpstr>Tema di Office</vt:lpstr>
      <vt:lpstr>Tunnel blu digitale 16x9</vt:lpstr>
      <vt:lpstr>1_Tema di Office</vt:lpstr>
      <vt:lpstr>S.A.F.E.  (Smart Automated Fire Extinguisher)</vt:lpstr>
      <vt:lpstr>Emergenza Incendi:  Una Sfida Real Time</vt:lpstr>
      <vt:lpstr>L’Ecosistema Hardware</vt:lpstr>
      <vt:lpstr>Presentazione standard di PowerPoint</vt:lpstr>
      <vt:lpstr>Presentazione standard di PowerPoint</vt:lpstr>
      <vt:lpstr>Presentazione standard di PowerPoint</vt:lpstr>
      <vt:lpstr>Logica Software Non-Bloccante e Real-Time</vt:lpstr>
      <vt:lpstr>Algoritmo di Puntamento</vt:lpstr>
      <vt:lpstr>Protocolli di Comunicazione e Infrastruttura IoT</vt:lpstr>
      <vt:lpstr>Diagramma di Funzionamento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S.A.F.E.  (Smart Automated Fire Extinguisher)</dc:title>
  <dc:creator>ALESSANDRO AVERSA</dc:creator>
  <cp:lastModifiedBy>ALESSANDRO AVERSA</cp:lastModifiedBy>
  <cp:revision>8</cp:revision>
  <dcterms:created xsi:type="dcterms:W3CDTF">2026-06-04T07:47:03Z</dcterms:created>
  <dcterms:modified xsi:type="dcterms:W3CDTF">2026-06-04T14:00:46Z</dcterms:modified>
</cp:coreProperties>
</file>